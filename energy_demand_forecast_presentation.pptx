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092440" y="0"/>
            <a:ext cx="4114800" cy="6858000"/>
          </a:xfrm>
          <a:prstGeom prst="rect">
            <a:avLst/>
          </a:prstGeom>
          <a:solidFill>
            <a:srgbClr val="205B89"/>
          </a:solidFill>
          <a:ln>
            <a:solidFill>
              <a:srgbClr val="20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32520" y="777240"/>
            <a:ext cx="2651760" cy="73152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45720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100" b="1">
                <a:solidFill>
                  <a:srgbClr val="43BECA"/>
                </a:solidFill>
                <a:latin typeface="Apple SD Gothic Neo"/>
              </a:defRPr>
            </a:pPr>
            <a:r>
              <a:t>ENERGY / TIME SERIES /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858000" cy="13258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ple SD Gothic Neo"/>
              </a:defRPr>
            </a:pPr>
            <a:r>
              <a:t>전국 전력수요</a:t>
            </a:r>
            <a:br/>
            <a:r>
              <a:t>시계열 예측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6035040" cy="6400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0">
                <a:solidFill>
                  <a:srgbClr val="D7E6ED"/>
                </a:solidFill>
                <a:latin typeface="Apple SD Gothic Neo"/>
              </a:defRPr>
            </a:pPr>
            <a:r>
              <a:t>ARIMA · LSTM · Transformer 비교</a:t>
            </a:r>
            <a:br/>
            <a:r>
              <a:t>7개 지역 ASOS 기상 데이터 기반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440680"/>
            <a:ext cx="182880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ple SD Gothic Neo"/>
              </a:defRPr>
            </a:pPr>
            <a:r>
              <a:t>주희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0448"/>
            <a:ext cx="65836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000" b="0">
                <a:solidFill>
                  <a:srgbClr val="B4CFDB"/>
                </a:solidFill>
                <a:latin typeface="Apple SD Gothic Neo"/>
              </a:defRPr>
            </a:pPr>
            <a:r>
              <a:t>National Power Demand and Regional Weather in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1280160"/>
            <a:ext cx="1828800" cy="146304"/>
          </a:xfrm>
          <a:prstGeom prst="round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95360" y="2103120"/>
            <a:ext cx="2560320" cy="146304"/>
          </a:xfrm>
          <a:prstGeom prst="roundRect">
            <a:avLst/>
          </a:prstGeom>
          <a:solidFill>
            <a:srgbClr val="F09746"/>
          </a:solidFill>
          <a:ln>
            <a:solidFill>
              <a:srgbClr val="F0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0" y="2926080"/>
            <a:ext cx="1508760" cy="146304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95360" y="3749039"/>
            <a:ext cx="2286000" cy="146304"/>
          </a:xfrm>
          <a:prstGeom prst="round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4572000"/>
            <a:ext cx="1691640" cy="146304"/>
          </a:xfrm>
          <a:prstGeom prst="roundRect">
            <a:avLst/>
          </a:prstGeom>
          <a:solidFill>
            <a:srgbClr val="F09746"/>
          </a:solidFill>
          <a:ln>
            <a:solidFill>
              <a:srgbClr val="F0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01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왜 전력수요를 예측하는가?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6583680" cy="9144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400" b="1">
                <a:solidFill>
                  <a:srgbClr val="0F1F30"/>
                </a:solidFill>
                <a:latin typeface="Apple SD Gothic Neo"/>
              </a:defRPr>
            </a:pPr>
            <a:r>
              <a:t>전력수요는 시간대와 날씨에 따라 반복적으로 변하지만,</a:t>
            </a:r>
            <a:br/>
            <a:r>
              <a:t>그 변동의 크기와 방향은 매일 다릅니다.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090672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" y="2971800"/>
            <a:ext cx="592531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0">
                <a:solidFill>
                  <a:srgbClr val="1F2B35"/>
                </a:solidFill>
                <a:latin typeface="Apple SD Gothic Neo"/>
              </a:defRPr>
            </a:pPr>
            <a:r>
              <a:t>전국 수요의 다음 1시간 값을 예측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3621024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3502152"/>
            <a:ext cx="592531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0">
                <a:solidFill>
                  <a:srgbClr val="1F2B35"/>
                </a:solidFill>
                <a:latin typeface="Apple SD Gothic Neo"/>
              </a:defRPr>
            </a:pPr>
            <a:r>
              <a:t>지역별 기상 변수를 하나의 다변량 입력으로 사용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4151376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032504"/>
            <a:ext cx="592531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0">
                <a:solidFill>
                  <a:srgbClr val="1F2B35"/>
                </a:solidFill>
                <a:latin typeface="Apple SD Gothic Neo"/>
              </a:defRPr>
            </a:pPr>
            <a:r>
              <a:t>고전 시계열 모델과 딥러닝 모델의 성능 비교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4681728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4562856"/>
            <a:ext cx="592531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0">
                <a:solidFill>
                  <a:srgbClr val="1F2B35"/>
                </a:solidFill>
                <a:latin typeface="Apple SD Gothic Neo"/>
              </a:defRPr>
            </a:pPr>
            <a:r>
              <a:t>예측값뿐 아니라 불확실성과 변동성도 검증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508760"/>
            <a:ext cx="3794760" cy="411480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920240"/>
            <a:ext cx="29260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200" b="1">
                <a:solidFill>
                  <a:srgbClr val="205B89"/>
                </a:solidFill>
                <a:latin typeface="Apple SD Gothic Neo"/>
              </a:defRPr>
            </a:pPr>
            <a:r>
              <a:t>연구 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514600"/>
            <a:ext cx="2926080" cy="1417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어떤 모델이</a:t>
            </a:r>
            <a:br/>
            <a:r>
              <a:t>실제 수요의 변동성을</a:t>
            </a:r>
            <a:br/>
            <a:r>
              <a:t>가장 잘 따라가는가?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4754880"/>
            <a:ext cx="2743200" cy="4114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200" b="1">
                <a:solidFill>
                  <a:srgbClr val="F09746"/>
                </a:solidFill>
                <a:latin typeface="Apple SD Gothic Neo"/>
              </a:defRPr>
            </a:pPr>
            <a:r>
              <a:t>정확도 + 공정한 시험 + uncertainty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02 /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데이터: 전국 수요 + 7개 지역 날씨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240280" cy="566928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22402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서울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00200"/>
            <a:ext cx="2240280" cy="566928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91640"/>
            <a:ext cx="22402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인천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2240280" cy="566928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2200" y="1691640"/>
            <a:ext cx="22402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대전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1600200"/>
            <a:ext cx="2240280" cy="566928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691640"/>
            <a:ext cx="22402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대구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514600"/>
            <a:ext cx="2240280" cy="566928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22402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광주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514600"/>
            <a:ext cx="2240280" cy="566928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06040"/>
            <a:ext cx="22402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부산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514600"/>
            <a:ext cx="2240280" cy="566928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200" y="2606040"/>
            <a:ext cx="22402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제주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219456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200" b="1">
                <a:solidFill>
                  <a:srgbClr val="205B89"/>
                </a:solidFill>
                <a:latin typeface="Apple SD Gothic Neo"/>
              </a:defRPr>
            </a:pPr>
            <a:r>
              <a:t>통합 데이터셋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2606040" cy="105156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4160520"/>
            <a:ext cx="73152" cy="105156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4325112"/>
            <a:ext cx="214884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000" b="1">
                <a:solidFill>
                  <a:srgbClr val="607584"/>
                </a:solidFill>
                <a:latin typeface="Apple SD Gothic Neo"/>
              </a:defRPr>
            </a:pPr>
            <a:r>
              <a:t>관측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" y="4599431"/>
            <a:ext cx="2148840" cy="38404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200" b="1">
                <a:solidFill>
                  <a:srgbClr val="0F1F30"/>
                </a:solidFill>
                <a:latin typeface="Apple SD Gothic Neo"/>
              </a:defRPr>
            </a:pPr>
            <a:r>
              <a:t>8,760시간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11880" y="4160520"/>
            <a:ext cx="2606040" cy="105156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4160520"/>
            <a:ext cx="73152" cy="1051560"/>
          </a:xfrm>
          <a:prstGeom prst="rect">
            <a:avLst/>
          </a:prstGeom>
          <a:solidFill>
            <a:srgbClr val="F09746"/>
          </a:solidFill>
          <a:ln>
            <a:solidFill>
              <a:srgbClr val="F0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13048" y="4325112"/>
            <a:ext cx="214884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000" b="1">
                <a:solidFill>
                  <a:srgbClr val="607584"/>
                </a:solidFill>
                <a:latin typeface="Apple SD Gothic Neo"/>
              </a:defRPr>
            </a:pPr>
            <a:r>
              <a:t>입력 특성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3048" y="4599431"/>
            <a:ext cx="2148840" cy="38404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200" b="1">
                <a:solidFill>
                  <a:srgbClr val="0F1F30"/>
                </a:solidFill>
                <a:latin typeface="Apple SD Gothic Neo"/>
              </a:defRPr>
            </a:pPr>
            <a:r>
              <a:t>50개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46520" y="4160520"/>
            <a:ext cx="2606040" cy="105156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46520" y="4160520"/>
            <a:ext cx="73152" cy="1051560"/>
          </a:xfrm>
          <a:prstGeom prst="rect">
            <a:avLst/>
          </a:prstGeom>
          <a:solidFill>
            <a:srgbClr val="4B9D6F"/>
          </a:solidFill>
          <a:ln>
            <a:solidFill>
              <a:srgbClr val="4B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47688" y="4325112"/>
            <a:ext cx="214884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000" b="1">
                <a:solidFill>
                  <a:srgbClr val="607584"/>
                </a:solidFill>
                <a:latin typeface="Apple SD Gothic Neo"/>
              </a:defRPr>
            </a:pPr>
            <a:r>
              <a:t>예측 목표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47688" y="4599431"/>
            <a:ext cx="2148840" cy="38404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200" b="1">
                <a:solidFill>
                  <a:srgbClr val="0F1F30"/>
                </a:solidFill>
                <a:latin typeface="Apple SD Gothic Neo"/>
              </a:defRPr>
            </a:pPr>
            <a:r>
              <a:t>전국 MWh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715000"/>
            <a:ext cx="594360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1">
                <a:solidFill>
                  <a:srgbClr val="0F1F30"/>
                </a:solidFill>
                <a:latin typeface="Apple SD Gothic Neo"/>
              </a:defRPr>
            </a:pPr>
            <a:r>
              <a:t>national_power_regional_weather_2025.csv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053328"/>
            <a:ext cx="777240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100" b="0">
                <a:solidFill>
                  <a:srgbClr val="607584"/>
                </a:solidFill>
                <a:latin typeface="Apple SD Gothic Neo"/>
              </a:defRPr>
            </a:pPr>
            <a:r>
              <a:t>전처리된 전력수요·지역 날씨를 하나의 CSV로 저장해 재현성을 높였습니다.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03 /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EDA: 시간대와 지역별 기온의 특징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1069848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5074920"/>
            <a:ext cx="10058400" cy="59436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1">
                <a:solidFill>
                  <a:srgbClr val="0F1F30"/>
                </a:solidFill>
                <a:latin typeface="Apple SD Gothic Neo"/>
              </a:defRPr>
            </a:pPr>
            <a:r>
              <a:t>시간대별 평균 수요는 뚜렷한 일중 패턴을 보입니다. 지역별 평균 기온은 지역마다 차이가 있어 전국 수요를 설명하는 다변량 입력으로 사용할 가치가 있습니다.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806440"/>
            <a:ext cx="77724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0">
                <a:solidFill>
                  <a:srgbClr val="607584"/>
                </a:solidFill>
                <a:latin typeface="Apple SD Gothic Neo"/>
              </a:defRPr>
            </a:pPr>
            <a:r>
              <a:t>EDA는 모델 선택과 입력 변수 설계의 근거로 사용했습니다.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03 /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전처리와 데이터 누출 방지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2331720" cy="315468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828800"/>
            <a:ext cx="50292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800" b="1">
                <a:solidFill>
                  <a:srgbClr val="43BECA"/>
                </a:solidFill>
                <a:latin typeface="Apple SD Gothic Neo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31720"/>
            <a:ext cx="1874519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시간 정렬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71800"/>
            <a:ext cx="1920240" cy="8686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0">
                <a:solidFill>
                  <a:srgbClr val="1F2B35"/>
                </a:solidFill>
                <a:latin typeface="Apple SD Gothic Neo"/>
              </a:defRPr>
            </a:pPr>
            <a:r>
              <a:t>전력수요와 7개 지역 ASOS를</a:t>
            </a:r>
            <a:br/>
            <a:r>
              <a:t>datetime 기준으로 결합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2834640"/>
            <a:ext cx="320040" cy="36576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2200" b="1">
                <a:solidFill>
                  <a:srgbClr val="F09746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00200"/>
            <a:ext cx="2331720" cy="315468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828800"/>
            <a:ext cx="50292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800" b="1">
                <a:solidFill>
                  <a:srgbClr val="43BECA"/>
                </a:solidFill>
                <a:latin typeface="Apple SD Gothic Neo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331720"/>
            <a:ext cx="1874519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결측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971800"/>
            <a:ext cx="1920240" cy="8686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0">
                <a:solidFill>
                  <a:srgbClr val="1F2B35"/>
                </a:solidFill>
                <a:latin typeface="Apple SD Gothic Neo"/>
              </a:defRPr>
            </a:pPr>
            <a:r>
              <a:t>강수·일조·일사 = 0</a:t>
            </a:r>
            <a:br/>
            <a:r>
              <a:t>기온·풍속·습도 = 지역별 보간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6168" y="2834640"/>
            <a:ext cx="320040" cy="36576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2200" b="1">
                <a:solidFill>
                  <a:srgbClr val="F09746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600200"/>
            <a:ext cx="2331720" cy="315468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7" y="1828800"/>
            <a:ext cx="50292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800" b="1">
                <a:solidFill>
                  <a:srgbClr val="43BECA"/>
                </a:solidFill>
                <a:latin typeface="Apple SD Gothic Neo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7" y="2331720"/>
            <a:ext cx="1874519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주기 특성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7" y="2971800"/>
            <a:ext cx="1920240" cy="8686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0">
                <a:solidFill>
                  <a:srgbClr val="1F2B35"/>
                </a:solidFill>
                <a:latin typeface="Apple SD Gothic Neo"/>
              </a:defRPr>
            </a:pPr>
            <a:r>
              <a:t>hour / weekday / month를</a:t>
            </a:r>
            <a:br/>
            <a:r>
              <a:t>sin·cos 특성으로 변환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59367" y="2834640"/>
            <a:ext cx="320040" cy="36576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2200" b="1">
                <a:solidFill>
                  <a:srgbClr val="F09746"/>
                </a:solidFill>
                <a:latin typeface="Apple SD Gothic Neo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600200"/>
            <a:ext cx="2331720" cy="315468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08008" y="1828800"/>
            <a:ext cx="50292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800" b="1">
                <a:solidFill>
                  <a:srgbClr val="43BECA"/>
                </a:solidFill>
                <a:latin typeface="Apple SD Gothic Neo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8008" y="2331720"/>
            <a:ext cx="1874519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스케일링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971800"/>
            <a:ext cx="1920240" cy="8686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0">
                <a:solidFill>
                  <a:srgbClr val="1F2B35"/>
                </a:solidFill>
                <a:latin typeface="Apple SD Gothic Neo"/>
              </a:defRPr>
            </a:pPr>
            <a:r>
              <a:t>Scaler는 학습 구간에만</a:t>
            </a:r>
            <a:br/>
            <a:r>
              <a:t>적합해 평가 정보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532120"/>
            <a:ext cx="8046720" cy="36576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1">
                <a:solidFill>
                  <a:srgbClr val="0F1F30"/>
                </a:solidFill>
                <a:latin typeface="Apple SD Gothic Neo"/>
              </a:defRPr>
            </a:pPr>
            <a:r>
              <a:t>결측을 무조건 보간하지 않고 변수의 물리적 의미에 맞춰 처리했습니다.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04 /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ple SD Gothic Neo"/>
              </a:defRPr>
            </a:pPr>
            <a:r>
              <a:t>공정한 시험: 모두 다음 1시간 예측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1920240" cy="6400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3800" b="1">
                <a:solidFill>
                  <a:srgbClr val="43BECA"/>
                </a:solidFill>
                <a:latin typeface="Apple SD Gothic Neo"/>
              </a:defRPr>
            </a:pPr>
            <a:r>
              <a:t>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219456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학습 6,132시간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645920"/>
            <a:ext cx="1920240" cy="6400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3800" b="1">
                <a:solidFill>
                  <a:srgbClr val="F09746"/>
                </a:solidFill>
                <a:latin typeface="Apple SD Gothic Neo"/>
              </a:defRPr>
            </a:pPr>
            <a: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331720"/>
            <a:ext cx="219456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검증 1,314시간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645920"/>
            <a:ext cx="1920240" cy="64008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3800" b="1">
                <a:solidFill>
                  <a:srgbClr val="4B9D6F"/>
                </a:solidFill>
                <a:latin typeface="Apple SD Gothic Neo"/>
              </a:defRPr>
            </a:pPr>
            <a: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31720"/>
            <a:ext cx="219456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ple SD Gothic Neo"/>
              </a:defRPr>
            </a:pPr>
            <a:r>
              <a:t>평가 1,314시간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3246120"/>
            <a:ext cx="9326880" cy="109728"/>
          </a:xfrm>
          <a:prstGeom prst="rect">
            <a:avLst/>
          </a:prstGeom>
          <a:solidFill>
            <a:srgbClr val="4B5B6B"/>
          </a:solidFill>
          <a:ln>
            <a:solidFill>
              <a:srgbClr val="4B5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246120"/>
            <a:ext cx="6528816" cy="109728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97496" y="3246120"/>
            <a:ext cx="1399032" cy="109728"/>
          </a:xfrm>
          <a:prstGeom prst="rect">
            <a:avLst/>
          </a:prstGeom>
          <a:solidFill>
            <a:srgbClr val="F09746"/>
          </a:solidFill>
          <a:ln>
            <a:solidFill>
              <a:srgbClr val="F0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96528" y="3246120"/>
            <a:ext cx="1399032" cy="109728"/>
          </a:xfrm>
          <a:prstGeom prst="rect">
            <a:avLst/>
          </a:prstGeom>
          <a:solidFill>
            <a:srgbClr val="4B9D6F"/>
          </a:solidFill>
          <a:ln>
            <a:solidFill>
              <a:srgbClr val="4B9D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246888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LSTM / 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384048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0">
                <a:solidFill>
                  <a:srgbClr val="CBDCE4"/>
                </a:solidFill>
                <a:latin typeface="Apple SD Gothic Neo"/>
              </a:defRPr>
            </a:pPr>
            <a:r>
              <a:t>최근 24시간 실제 자료 → 다음 1시간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886200"/>
            <a:ext cx="201168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ple SD Gothic Neo"/>
              </a:defRPr>
            </a:pPr>
            <a:r>
              <a:t>ARIMA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297680"/>
            <a:ext cx="502920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0">
                <a:solidFill>
                  <a:srgbClr val="CBDCE4"/>
                </a:solidFill>
                <a:latin typeface="Apple SD Gothic Neo"/>
              </a:defRPr>
            </a:pPr>
            <a:r>
              <a:t>1시간 예측 → 실제값 반영 → 다음 1시간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7680960" cy="34747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1">
                <a:solidFill>
                  <a:srgbClr val="43BECA"/>
                </a:solidFill>
                <a:latin typeface="Apple SD Gothic Neo"/>
              </a:defRPr>
            </a:pPr>
            <a:r>
              <a:t>ARIMA만 수개월을 한 번에 예측하는 조건을 제거했습니다.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05 /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비교한 세 가지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3246120" cy="347472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3246120" cy="164592"/>
          </a:xfrm>
          <a:prstGeom prst="rect">
            <a:avLst/>
          </a:prstGeom>
          <a:solidFill>
            <a:srgbClr val="205B89"/>
          </a:solidFill>
          <a:ln>
            <a:solidFill>
              <a:srgbClr val="20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148840"/>
            <a:ext cx="2743200" cy="34747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900" b="1">
                <a:solidFill>
                  <a:srgbClr val="0F1F30"/>
                </a:solidFill>
                <a:latin typeface="Apple SD Gothic Neo"/>
              </a:defRPr>
            </a:pPr>
            <a:r>
              <a:t>ARIMA / SARIMAX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606040"/>
            <a:ext cx="27432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100" b="1">
                <a:solidFill>
                  <a:srgbClr val="205B89"/>
                </a:solidFill>
                <a:latin typeface="Apple SD Gothic Neo"/>
              </a:defRPr>
            </a:pPr>
            <a:r>
              <a:t>고전 시계열 베이스라인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246120"/>
            <a:ext cx="2560320" cy="6858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0">
                <a:solidFill>
                  <a:srgbClr val="1F2B35"/>
                </a:solidFill>
                <a:latin typeface="Apple SD Gothic Neo"/>
              </a:defRPr>
            </a:pPr>
            <a:r>
              <a:t>추세와 24시간 계절성</a:t>
            </a:r>
            <a:br/>
            <a:r>
              <a:t>해석 가능한 기준선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79" y="1645920"/>
            <a:ext cx="3246120" cy="347472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79" y="1645920"/>
            <a:ext cx="3246120" cy="164592"/>
          </a:xfrm>
          <a:prstGeom prst="rect">
            <a:avLst/>
          </a:prstGeom>
          <a:solidFill>
            <a:srgbClr val="F09746"/>
          </a:solidFill>
          <a:ln>
            <a:solidFill>
              <a:srgbClr val="F097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82312" y="2148840"/>
            <a:ext cx="2743200" cy="34747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900" b="1">
                <a:solidFill>
                  <a:srgbClr val="0F1F30"/>
                </a:solidFill>
                <a:latin typeface="Apple SD Gothic Neo"/>
              </a:defRPr>
            </a:pPr>
            <a:r>
              <a:t>LSTM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606040"/>
            <a:ext cx="27432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100" b="1">
                <a:solidFill>
                  <a:srgbClr val="F09746"/>
                </a:solidFill>
                <a:latin typeface="Apple SD Gothic Neo"/>
              </a:defRPr>
            </a:pPr>
            <a:r>
              <a:t>순환 신경망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2312" y="3246120"/>
            <a:ext cx="2560320" cy="6858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0">
                <a:solidFill>
                  <a:srgbClr val="1F2B35"/>
                </a:solidFill>
                <a:latin typeface="Apple SD Gothic Neo"/>
              </a:defRPr>
            </a:pPr>
            <a:r>
              <a:t>최근 24시간의</a:t>
            </a:r>
            <a:br/>
            <a:r>
              <a:t>장기 의존성 학습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19" y="1645920"/>
            <a:ext cx="3246120" cy="3474720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75319" y="1645920"/>
            <a:ext cx="3246120" cy="164592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31351" y="2148840"/>
            <a:ext cx="2743200" cy="34747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900" b="1">
                <a:solidFill>
                  <a:srgbClr val="0F1F30"/>
                </a:solidFill>
                <a:latin typeface="Apple SD Gothic Neo"/>
              </a:defRPr>
            </a:pPr>
            <a:r>
              <a:t>Transformer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31351" y="2606040"/>
            <a:ext cx="27432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100" b="1">
                <a:solidFill>
                  <a:srgbClr val="43BECA"/>
                </a:solidFill>
                <a:latin typeface="Apple SD Gothic Neo"/>
              </a:defRPr>
            </a:pPr>
            <a:r>
              <a:t>Self-attention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31351" y="3246120"/>
            <a:ext cx="2560320" cy="6858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0">
                <a:solidFill>
                  <a:srgbClr val="1F2B35"/>
                </a:solidFill>
                <a:latin typeface="Apple SD Gothic Neo"/>
              </a:defRPr>
            </a:pPr>
            <a:r>
              <a:t>시간적 관계와</a:t>
            </a:r>
            <a:br/>
            <a:r>
              <a:t>다변량 상호작용 학습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69280"/>
            <a:ext cx="777240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공통 입력: 지역 날씨 + 시간 특성 + 과거 전력수요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06 /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학습 설정과 평가 지표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5029200" cy="3977639"/>
          </a:xfrm>
          <a:prstGeom prst="round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320040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800" b="1">
                <a:solidFill>
                  <a:srgbClr val="0F1F30"/>
                </a:solidFill>
                <a:latin typeface="Apple SD Gothic Neo"/>
              </a:defRPr>
            </a:pPr>
            <a:r>
              <a:t>학습 설정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679191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560320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손실 함수: MSELoss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09544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3090672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Optimizer: Adam, learning rate 0.001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39896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621024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LSTM: hidden size 64, 2 layers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270247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151375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Transformer: d_model 64, 4 heads, 2 layers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800599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681727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lookback: 최근 24시간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00200"/>
            <a:ext cx="5074920" cy="3977639"/>
          </a:xfrm>
          <a:prstGeom prst="roundRect">
            <a:avLst/>
          </a:prstGeom>
          <a:solidFill>
            <a:srgbClr val="0F1F30"/>
          </a:solidFill>
          <a:ln>
            <a:solidFill>
              <a:srgbClr val="0F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920240"/>
            <a:ext cx="320040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ple SD Gothic Neo"/>
              </a:defRPr>
            </a:pPr>
            <a:r>
              <a:t>평가 지표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2679191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84848" y="2560320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MAE: 평균 절대오차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3209544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84848" y="3090672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RMSE: 큰 오차에 더 민감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0" y="3739896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3621024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MAPE: 상대 오차 비율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0" y="4270247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84848" y="4151375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표준편차 비율: 상수 예측 붕괴 확인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4800599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4848" y="4681727"/>
            <a:ext cx="400507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95% coverage: 구간 안 실제값 비율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06 /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성능 비교 결과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10789920" cy="502920"/>
          </a:xfrm>
          <a:prstGeom prst="rect">
            <a:avLst/>
          </a:prstGeom>
          <a:solidFill>
            <a:srgbClr val="205B89"/>
          </a:solidFill>
          <a:ln>
            <a:solidFill>
              <a:srgbClr val="205B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28216"/>
            <a:ext cx="192024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72821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72821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19" y="1728216"/>
            <a:ext cx="16459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MAPE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728216"/>
            <a:ext cx="27432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표준편차 비율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1728216"/>
            <a:ext cx="24688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ple SD Gothic Neo"/>
              </a:defRPr>
            </a:pPr>
            <a:r>
              <a:t>95% 포함률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148840"/>
            <a:ext cx="10789920" cy="502920"/>
          </a:xfrm>
          <a:prstGeom prst="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231136"/>
            <a:ext cx="192024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1">
                <a:solidFill>
                  <a:srgbClr val="1F2B35"/>
                </a:solidFill>
                <a:latin typeface="Apple SD Gothic Neo"/>
              </a:defRPr>
            </a:pPr>
            <a:r>
              <a:t>ARIMA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23113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646.5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23113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904.8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19" y="2231136"/>
            <a:ext cx="16459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1.02%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231136"/>
            <a:ext cx="27432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1.011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2231136"/>
            <a:ext cx="24688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88.51%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651760"/>
            <a:ext cx="10789920" cy="50292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34056"/>
            <a:ext cx="192024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1">
                <a:solidFill>
                  <a:srgbClr val="1F2B35"/>
                </a:solidFill>
                <a:latin typeface="Apple SD Gothic Neo"/>
              </a:defRPr>
            </a:pPr>
            <a:r>
              <a:t>LSTM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73405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1,895.5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273405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2,481.9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19" y="2734056"/>
            <a:ext cx="16459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3.05%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734056"/>
            <a:ext cx="27432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0.919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2734056"/>
            <a:ext cx="24688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92.69%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3154680"/>
            <a:ext cx="10789920" cy="502920"/>
          </a:xfrm>
          <a:prstGeom prst="rect">
            <a:avLst/>
          </a:prstGeom>
          <a:solidFill>
            <a:srgbClr val="EFF5F8"/>
          </a:solidFill>
          <a:ln>
            <a:solidFill>
              <a:srgbClr val="EFF5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236976"/>
            <a:ext cx="192024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1">
                <a:solidFill>
                  <a:srgbClr val="1F2B35"/>
                </a:solidFill>
                <a:latin typeface="Apple SD Gothic Neo"/>
              </a:defRPr>
            </a:pPr>
            <a:r>
              <a:t>Transformer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23697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1,883.8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0" y="3236976"/>
            <a:ext cx="21031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2,502.1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19" y="3236976"/>
            <a:ext cx="164592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2.96%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236976"/>
            <a:ext cx="27432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1.029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3236976"/>
            <a:ext cx="246888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1000" b="0">
                <a:solidFill>
                  <a:srgbClr val="1F2B35"/>
                </a:solidFill>
                <a:latin typeface="Apple SD Gothic Neo"/>
              </a:defRPr>
            </a:pPr>
            <a:r>
              <a:t>88.43%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160520"/>
            <a:ext cx="10241280" cy="4572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1">
                <a:solidFill>
                  <a:srgbClr val="0F1F30"/>
                </a:solidFill>
                <a:latin typeface="Apple SD Gothic Neo"/>
              </a:defRPr>
            </a:pPr>
            <a:r>
              <a:t>표준편차 비율이 0에 가깝지 않아 LSTM·Transformer의 상수 예측 붕괴는 관찰되지 않았습니다.</a:t>
            </a:r>
          </a:p>
        </p:txBody>
      </p:sp>
      <p:pic>
        <p:nvPicPr>
          <p:cNvPr id="34" name="Picture 33" descr="forecas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663440"/>
            <a:ext cx="5257800" cy="169164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92240" y="4983480"/>
            <a:ext cx="4206240" cy="6858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600" b="1">
                <a:solidFill>
                  <a:srgbClr val="1F2B35"/>
                </a:solidFill>
                <a:latin typeface="Apple SD Gothic Neo"/>
              </a:defRPr>
            </a:pPr>
            <a:r>
              <a:t>그래프와 수치를 함께 읽어야 모델의 실제 성능을 판단할 수 있습니다.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07 / UNCERTAINTY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예측 구간과 불확실성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ima_inter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3611880" cy="1828800"/>
          </a:xfrm>
          <a:prstGeom prst="rect">
            <a:avLst/>
          </a:prstGeom>
        </p:spPr>
      </p:pic>
      <p:pic>
        <p:nvPicPr>
          <p:cNvPr id="6" name="Picture 5" descr="lstm_inter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417320"/>
            <a:ext cx="3611880" cy="1828800"/>
          </a:xfrm>
          <a:prstGeom prst="rect">
            <a:avLst/>
          </a:prstGeom>
        </p:spPr>
      </p:pic>
      <p:pic>
        <p:nvPicPr>
          <p:cNvPr id="7" name="Picture 6" descr="transformer_interv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417320"/>
            <a:ext cx="361188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0240" y="3383280"/>
            <a:ext cx="11887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100" b="1">
                <a:solidFill>
                  <a:srgbClr val="205B89"/>
                </a:solidFill>
                <a:latin typeface="Apple SD Gothic Neo"/>
              </a:defRPr>
            </a:pPr>
            <a:r>
              <a:t>ARIMA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3383280"/>
            <a:ext cx="11887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100" b="1">
                <a:solidFill>
                  <a:srgbClr val="F09746"/>
                </a:solidFill>
                <a:latin typeface="Apple SD Gothic Neo"/>
              </a:defRPr>
            </a:pPr>
            <a:r>
              <a:t>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383280"/>
            <a:ext cx="137160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ctr">
              <a:defRPr sz="1100" b="1">
                <a:solidFill>
                  <a:srgbClr val="43BECA"/>
                </a:solidFill>
                <a:latin typeface="Apple SD Gothic Neo"/>
              </a:defRPr>
            </a:pPr>
            <a:r>
              <a:t>Transformer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187952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069080"/>
            <a:ext cx="9857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0">
                <a:solidFill>
                  <a:srgbClr val="1F2B35"/>
                </a:solidFill>
                <a:latin typeface="Apple SD Gothic Neo"/>
              </a:defRPr>
            </a:pPr>
            <a:r>
              <a:t>95% 구간 폭은 검증 잔차 표준편차로 계산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626864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4507992"/>
            <a:ext cx="9857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0">
                <a:solidFill>
                  <a:srgbClr val="1F2B35"/>
                </a:solidFill>
                <a:latin typeface="Apple SD Gothic Neo"/>
              </a:defRPr>
            </a:pPr>
            <a:r>
              <a:t>평가 정답을 구간 계산에 사용하지 않아 누출 방지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065776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946904"/>
            <a:ext cx="9857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0">
                <a:solidFill>
                  <a:srgbClr val="1F2B35"/>
                </a:solidFill>
                <a:latin typeface="Apple SD Gothic Neo"/>
              </a:defRPr>
            </a:pPr>
            <a:r>
              <a:t>포함률은 실제값이 구간 안에 들어간 비율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04688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5385816"/>
            <a:ext cx="9857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500" b="0">
                <a:solidFill>
                  <a:srgbClr val="1F2B35"/>
                </a:solidFill>
                <a:latin typeface="Apple SD Gothic Neo"/>
              </a:defRPr>
            </a:pPr>
            <a:r>
              <a:t>현재 구간은 잔차 기반 근사이며 확률 보장은 아님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5303520" cy="2286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800" b="1">
                <a:solidFill>
                  <a:srgbClr val="43BECA"/>
                </a:solidFill>
                <a:latin typeface="Apple SD Gothic Neo"/>
              </a:defRPr>
            </a:pPr>
            <a:r>
              <a:t>08 / 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029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2500" b="1">
                <a:solidFill>
                  <a:srgbClr val="0F1F30"/>
                </a:solidFill>
                <a:latin typeface="Apple SD Gothic Neo"/>
              </a:defRPr>
            </a:pPr>
            <a:r>
              <a:t>결과 해석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43000"/>
            <a:ext cx="914400" cy="45720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16636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393192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1">
                <a:solidFill>
                  <a:srgbClr val="0F1F30"/>
                </a:solidFill>
                <a:latin typeface="Apple SD Gothic Neo"/>
              </a:defRPr>
            </a:pPr>
            <a:r>
              <a:t>이번 실험에서 확인한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633472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514600"/>
            <a:ext cx="4142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7개 지역 날씨를 전국 수요 예측에 함께 사용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209544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3090672"/>
            <a:ext cx="4142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세 모델의 시험 조건을 one-step 방식으로 통일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785615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666744"/>
            <a:ext cx="4142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입력 스케일러는 학습 데이터에만 적합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4361688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242816"/>
            <a:ext cx="414223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1F2B35"/>
                </a:solidFill>
                <a:latin typeface="Apple SD Gothic Neo"/>
              </a:defRPr>
            </a:pPr>
            <a:r>
              <a:t>LSTM·Transformer의 예측 변동성은 실제와 유사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554480"/>
            <a:ext cx="5074920" cy="4114800"/>
          </a:xfrm>
          <a:prstGeom prst="roundRect">
            <a:avLst/>
          </a:prstGeom>
          <a:solidFill>
            <a:srgbClr val="0F1F30"/>
          </a:solidFill>
          <a:ln>
            <a:solidFill>
              <a:srgbClr val="0F1F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19"/>
            <a:ext cx="4114800" cy="32004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ple SD Gothic Neo"/>
              </a:defRPr>
            </a:pPr>
            <a:r>
              <a:t>남은 한계와 다음 단계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633472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2514600"/>
            <a:ext cx="395935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ARIMA의 수렴과 차수 최적화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209544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3090672"/>
            <a:ext cx="395935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quantile loss 기반 예측구간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3785615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3666744"/>
            <a:ext cx="395935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conformal prediction으로 coverage 보정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361688"/>
            <a:ext cx="82296" cy="82296"/>
          </a:xfrm>
          <a:prstGeom prst="rect">
            <a:avLst/>
          </a:prstGeom>
          <a:solidFill>
            <a:srgbClr val="43BECA"/>
          </a:solidFill>
          <a:ln>
            <a:solidFill>
              <a:srgbClr val="43BE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4242816"/>
            <a:ext cx="3959352" cy="329184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400" b="0">
                <a:solidFill>
                  <a:srgbClr val="DCEBF1"/>
                </a:solidFill>
                <a:latin typeface="Apple SD Gothic Neo"/>
              </a:defRPr>
            </a:pPr>
            <a:r>
              <a:t>더 긴 기간과 다른 연도 데이터 검증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F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3840480" cy="36576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300" b="1">
                <a:solidFill>
                  <a:srgbClr val="43BECA"/>
                </a:solidFill>
                <a:latin typeface="Apple SD Gothic Neo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6766560" cy="114300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pple SD Gothic Neo"/>
              </a:defRPr>
            </a:pPr>
            <a:r>
              <a:t>전력수요 예측은</a:t>
            </a:r>
            <a:br/>
            <a:r>
              <a:t>정확도만의 문제가 아니다.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03320"/>
            <a:ext cx="6858000" cy="7315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800" b="0">
                <a:solidFill>
                  <a:srgbClr val="D5E5EC"/>
                </a:solidFill>
                <a:latin typeface="Apple SD Gothic Neo"/>
              </a:defRPr>
            </a:pPr>
            <a:r>
              <a:t>공정한 시험 조건, 지역 기상 정보,</a:t>
            </a:r>
            <a:br/>
            <a:r>
              <a:t>그리고 예측의 불확실성까지 함께 보아야 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15000"/>
            <a:ext cx="5486400" cy="274320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1200" b="1">
                <a:solidFill>
                  <a:srgbClr val="43BECA"/>
                </a:solidFill>
                <a:latin typeface="Apple SD Gothic Neo"/>
              </a:defRPr>
            </a:pPr>
            <a:r>
              <a:t>전국 전력수요 시계열 예측  /  주희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4572000" cy="164592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l">
              <a:defRPr sz="700" b="1">
                <a:solidFill>
                  <a:srgbClr val="607584"/>
                </a:solidFill>
                <a:latin typeface="Apple SD Gothic Neo"/>
              </a:defRPr>
            </a:pPr>
            <a:r>
              <a:t>ENERGY DEMAND FORECASTING  / 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19672"/>
            <a:ext cx="502920" cy="201168"/>
          </a:xfrm>
          <a:prstGeom prst="rect">
            <a:avLst/>
          </a:prstGeom>
          <a:noFill/>
        </p:spPr>
        <p:txBody>
          <a:bodyPr wrap="square" lIns="25400" rIns="25400" anchor="ctr">
            <a:spAutoFit/>
          </a:bodyPr>
          <a:lstStyle/>
          <a:p>
            <a:pPr algn="r">
              <a:defRPr sz="800" b="1">
                <a:solidFill>
                  <a:srgbClr val="607584"/>
                </a:solidFill>
                <a:latin typeface="Apple SD Gothic Neo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