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92440" y="0"/>
            <a:ext cx="4114800" cy="6858000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32520" y="777240"/>
            <a:ext cx="2651760" cy="73152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45720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ENERGY / TIME SERIES /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858000" cy="13258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전국 전력수요</a:t>
            </a:r>
            <a:br/>
            <a:r>
              <a:t>시계열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60350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D7E6ED"/>
                </a:solidFill>
                <a:latin typeface="Apple SD Gothic Neo"/>
              </a:defRPr>
            </a:pPr>
            <a:r>
              <a:t>ARIMA · LSTM · Transformer 비교</a:t>
            </a:r>
            <a:br/>
            <a:r>
              <a:t>7개 지역 ASOS 기상 데이터 기반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18288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주희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70448"/>
            <a:ext cx="65836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0">
                <a:solidFill>
                  <a:srgbClr val="B4CFDB"/>
                </a:solidFill>
                <a:latin typeface="Apple SD Gothic Neo"/>
              </a:defRPr>
            </a:pPr>
            <a:r>
              <a:t>National Power Demand and Regional Weather in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1280160"/>
            <a:ext cx="1828800" cy="146304"/>
          </a:xfrm>
          <a:prstGeom prst="round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0" y="2103120"/>
            <a:ext cx="2560320" cy="146304"/>
          </a:xfrm>
          <a:prstGeom prst="round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95360" y="2926080"/>
            <a:ext cx="1508760" cy="14630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95360" y="3749039"/>
            <a:ext cx="2286000" cy="146304"/>
          </a:xfrm>
          <a:prstGeom prst="round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95360" y="4572000"/>
            <a:ext cx="1691640" cy="146304"/>
          </a:xfrm>
          <a:prstGeom prst="round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왜 전력수요를 예측하는가?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583680" cy="9144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400" b="1">
                <a:solidFill>
                  <a:srgbClr val="0F1F30"/>
                </a:solidFill>
                <a:latin typeface="Apple SD Gothic Neo"/>
              </a:defRPr>
            </a:pPr>
            <a:r>
              <a:t>전력수요는 시간대와 날씨에 따라 반복적으로 변하지만,</a:t>
            </a:r>
            <a:br/>
            <a:r>
              <a:t>그 변동의 크기와 방향은 매일 다릅니다.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906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971800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전국 수요의 다음 1시간 값을 예측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62102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502152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지역별 기상 변수를 하나의 다변량 입력으로 사용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51376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032504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고전 시계열 모델과 딥러닝 모델의 성능 비교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68172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562856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예측값뿐 아니라 불확실성과 변동성도 검증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508760"/>
            <a:ext cx="3794760" cy="411480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29260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205B89"/>
                </a:solidFill>
                <a:latin typeface="Apple SD Gothic Neo"/>
              </a:defRPr>
            </a:pPr>
            <a:r>
              <a:t>연구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514600"/>
            <a:ext cx="2926080" cy="1417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어떤 모델이</a:t>
            </a:r>
            <a:br/>
            <a:r>
              <a:t>실제 수요의 변동성을</a:t>
            </a:r>
            <a:br/>
            <a:r>
              <a:t>가장 잘 따라가는가?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54880"/>
            <a:ext cx="2743200" cy="4114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F09746"/>
                </a:solidFill>
                <a:latin typeface="Apple SD Gothic Neo"/>
              </a:defRPr>
            </a:pPr>
            <a:r>
              <a:t>정확도 + 공정한 시험 + uncertainty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02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데이터: 전국 수요 + 7개 지역 날씨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서울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인천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대전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대구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광주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부산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제주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205B89"/>
                </a:solidFill>
                <a:latin typeface="Apple SD Gothic Neo"/>
              </a:defRPr>
            </a:pPr>
            <a:r>
              <a:t>통합 데이터셋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160520"/>
            <a:ext cx="73152" cy="105156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관측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8,760시간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11880" y="4160520"/>
            <a:ext cx="73152" cy="1051560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입력 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50개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4160520"/>
            <a:ext cx="73152" cy="1051560"/>
          </a:xfrm>
          <a:prstGeom prst="rect">
            <a:avLst/>
          </a:prstGeom>
          <a:solidFill>
            <a:srgbClr val="4B9D6F"/>
          </a:solidFill>
          <a:ln>
            <a:solidFill>
              <a:srgbClr val="4B9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768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예측 목표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전국 MWh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15000"/>
            <a:ext cx="59436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1">
                <a:solidFill>
                  <a:srgbClr val="0F1F30"/>
                </a:solidFill>
                <a:latin typeface="Apple SD Gothic Neo"/>
              </a:defRPr>
            </a:pPr>
            <a:r>
              <a:t>national_power_regional_weather_2025.csv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777240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0">
                <a:solidFill>
                  <a:srgbClr val="607584"/>
                </a:solidFill>
                <a:latin typeface="Apple SD Gothic Neo"/>
              </a:defRPr>
            </a:pPr>
            <a:r>
              <a:t>전처리된 전력수요·지역 날씨를 하나의 CSV로 저장해 재현성을 높였습니다.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03 /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전처리와 데이터 누출 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시간 정렬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전력수요와 7개 지역 ASOS를</a:t>
            </a:r>
            <a:br/>
            <a:r>
              <a:t>datetime 기준으로 결합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결측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강수·일조·일사 = 0</a:t>
            </a:r>
            <a:br/>
            <a:r>
              <a:t>기온·풍속·습도 = 지역별 보간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8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주기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hour / weekday / month를</a:t>
            </a:r>
            <a:br/>
            <a:r>
              <a:t>sin·cos 특성으로 변환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7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스케일링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Scaler는 학습 구간에만</a:t>
            </a:r>
            <a:br/>
            <a:r>
              <a:t>적합해 평가 정보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804672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0F1F30"/>
                </a:solidFill>
                <a:latin typeface="Apple SD Gothic Neo"/>
              </a:defRPr>
            </a:pPr>
            <a:r>
              <a:t>결측을 무조건 보간하지 않고 변수의 물리적 의미에 맞춰 처리했습니다.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04 /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ple SD Gothic Neo"/>
              </a:defRPr>
            </a:pPr>
            <a:r>
              <a:t>공정한 시험: 모두 다음 1시간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43BECA"/>
                </a:solidFill>
                <a:latin typeface="Apple SD Gothic Neo"/>
              </a:defRPr>
            </a:pPr>
            <a:r>
              <a:t>70%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학습 6,132시간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F09746"/>
                </a:solidFill>
                <a:latin typeface="Apple SD Gothic Neo"/>
              </a:defRPr>
            </a:pPr>
            <a:r>
              <a:t>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검증 1,314시간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4B9D6F"/>
                </a:solidFill>
                <a:latin typeface="Apple SD Gothic Neo"/>
              </a:defRPr>
            </a:pPr>
            <a:r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평가 1,314시간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46120"/>
            <a:ext cx="9326880" cy="109728"/>
          </a:xfrm>
          <a:prstGeom prst="rect">
            <a:avLst/>
          </a:prstGeom>
          <a:solidFill>
            <a:srgbClr val="4B5B6B"/>
          </a:solidFill>
          <a:ln>
            <a:solidFill>
              <a:srgbClr val="4B5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46120"/>
            <a:ext cx="6528816" cy="109728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97496" y="3246120"/>
            <a:ext cx="1399032" cy="109728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3246120"/>
            <a:ext cx="1399032" cy="109728"/>
          </a:xfrm>
          <a:prstGeom prst="rect">
            <a:avLst/>
          </a:prstGeom>
          <a:solidFill>
            <a:srgbClr val="4B9D6F"/>
          </a:solidFill>
          <a:ln>
            <a:solidFill>
              <a:srgbClr val="4B9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24688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LSTM /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8404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CBDCE4"/>
                </a:solidFill>
                <a:latin typeface="Apple SD Gothic Neo"/>
              </a:defRPr>
            </a:pPr>
            <a:r>
              <a:t>최근 24시간 실제 자료 → 다음 1시간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886200"/>
            <a:ext cx="20116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297680"/>
            <a:ext cx="50292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CBDCE4"/>
                </a:solidFill>
                <a:latin typeface="Apple SD Gothic Neo"/>
              </a:defRPr>
            </a:pPr>
            <a:r>
              <a:t>1시간 예측 → 실제값 반영 → 다음 1시간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768096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43BECA"/>
                </a:solidFill>
                <a:latin typeface="Apple SD Gothic Neo"/>
              </a:defRPr>
            </a:pPr>
            <a:r>
              <a:t>ARIMA만 수개월을 한 번에 예측하는 조건을 제거했습니다.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05 /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비교한 세 가지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3246120" cy="164592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ARIMA / SARIMAX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205B89"/>
                </a:solidFill>
                <a:latin typeface="Apple SD Gothic Neo"/>
              </a:defRPr>
            </a:pPr>
            <a:r>
              <a:t>고전 시계열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추세와 24시간 계절성</a:t>
            </a:r>
            <a:br/>
            <a:r>
              <a:t>해석 가능한 기준선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79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1645920"/>
            <a:ext cx="3246120" cy="164592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F09746"/>
                </a:solidFill>
                <a:latin typeface="Apple SD Gothic Neo"/>
              </a:defRPr>
            </a:pPr>
            <a:r>
              <a:t>순환 신경망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최근 24시간의</a:t>
            </a:r>
            <a:br/>
            <a:r>
              <a:t>장기 의존성 학습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645920"/>
            <a:ext cx="3246120" cy="164592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1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1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Self-attention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1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시간적 관계와</a:t>
            </a:r>
            <a:br/>
            <a:r>
              <a:t>다변량 상호작용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69280"/>
            <a:ext cx="77724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공통 입력: 지역 날씨 + 시간 특성 + 과거 전력수요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06 /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성능 비교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45920"/>
            <a:ext cx="10789920" cy="502920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2821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72821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72821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19" y="172821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MAPE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72821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표준편차 비율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172821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95% 포함률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148840"/>
            <a:ext cx="10789920" cy="502920"/>
          </a:xfrm>
          <a:prstGeom prst="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3113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23113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646.5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23113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904.8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19" y="223113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23113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223113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88.51%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51760"/>
            <a:ext cx="10789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3405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73405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1,895.5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73405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2,481.9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19" y="273405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3.05%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3405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0.919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273405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92.69%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154680"/>
            <a:ext cx="10789920" cy="502920"/>
          </a:xfrm>
          <a:prstGeom prst="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3697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23697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1,883.8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23697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2,502.1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19" y="323697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2.96%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323697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88.43%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160520"/>
            <a:ext cx="10241280" cy="4572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표준편차 비율이 0에 가깝지 않아 LSTM·Transformer의 상수 예측 붕괴는 관찰되지 않았습니다.</a:t>
            </a:r>
          </a:p>
        </p:txBody>
      </p:sp>
      <p:pic>
        <p:nvPicPr>
          <p:cNvPr id="34" name="Picture 33" descr="foreca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63440"/>
            <a:ext cx="5257800" cy="1691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983480"/>
            <a:ext cx="420624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1F2B35"/>
                </a:solidFill>
                <a:latin typeface="Apple SD Gothic Neo"/>
              </a:defRPr>
            </a:pPr>
            <a:r>
              <a:t>그래프와 수치를 함께 읽어야 모델의 실제 성능을 판단할 수 있습니다.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07 /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예측구간과 불확실성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ima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611880" cy="1828800"/>
          </a:xfrm>
          <a:prstGeom prst="rect">
            <a:avLst/>
          </a:prstGeom>
        </p:spPr>
      </p:pic>
      <p:pic>
        <p:nvPicPr>
          <p:cNvPr id="6" name="Picture 5" descr="lstm_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17320"/>
            <a:ext cx="3611880" cy="1828800"/>
          </a:xfrm>
          <a:prstGeom prst="rect">
            <a:avLst/>
          </a:prstGeom>
        </p:spPr>
      </p:pic>
      <p:pic>
        <p:nvPicPr>
          <p:cNvPr id="7" name="Picture 6" descr="transformer_inter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1417320"/>
            <a:ext cx="361188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20240" y="3383280"/>
            <a:ext cx="11887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205B89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383280"/>
            <a:ext cx="11887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F09746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383280"/>
            <a:ext cx="137160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8795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95% 구간 폭은 검증 잔차 표준편차로 계산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2686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507992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평가 정답을 구간 계산에 사용하지 않아 누출 방지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65776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946904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포함률은 실제값이 구간 안에 들어간 비율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504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5385816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현재 구간은 잔차 기반 근사이며 확률 보장은 아님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08 /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결과 해석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3931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0F1F30"/>
                </a:solidFill>
                <a:latin typeface="Apple SD Gothic Neo"/>
              </a:defRPr>
            </a:pPr>
            <a:r>
              <a:t>이번 실험에서 확인한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6334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514600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7개 지역 날씨를 전국 수요 예측에 함께 사용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090672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세 모델의 시험 조건을 one-step 방식으로 통일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785615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666744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입력 스케일러는 학습 데이터에만 적합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361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4242816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LSTM·Transformer의 예측 변동성은 실제와 유사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5074920" cy="4114800"/>
          </a:xfrm>
          <a:prstGeom prst="roundRect">
            <a:avLst/>
          </a:prstGeom>
          <a:solidFill>
            <a:srgbClr val="0F1F30"/>
          </a:solidFill>
          <a:ln>
            <a:solidFill>
              <a:srgbClr val="0F1F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874519"/>
            <a:ext cx="41148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ple SD Gothic Neo"/>
              </a:defRPr>
            </a:pPr>
            <a:r>
              <a:t>남은 한계와 다음 단계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6334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2514600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ARIMA의 수렴과 차수 최적화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20954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3090672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quantile loss 기반 예측구간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3785615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3666744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conformal prediction으로 coverage 보정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361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6288" y="4242816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더 긴 기간과 다른 연도 데이터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384048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43BECA"/>
                </a:solidFill>
                <a:latin typeface="Apple SD Gothic Neo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6766560" cy="11430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전력수요 예측은</a:t>
            </a:r>
            <a:br/>
            <a:r>
              <a:t>정확도만의 문제가 아니다.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6858000" cy="7315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0">
                <a:solidFill>
                  <a:srgbClr val="D5E5EC"/>
                </a:solidFill>
                <a:latin typeface="Apple SD Gothic Neo"/>
              </a:defRPr>
            </a:pPr>
            <a:r>
              <a:t>공정한 시험 조건, 지역 기상 정보,</a:t>
            </a:r>
            <a:br/>
            <a:r>
              <a:t>그리고 예측의 불확실성까지 함께 보아야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54864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43BECA"/>
                </a:solidFill>
                <a:latin typeface="Apple SD Gothic Neo"/>
              </a:defRPr>
            </a:pPr>
            <a:r>
              <a:t>전국 전력수요 시계열 예측  /  주희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