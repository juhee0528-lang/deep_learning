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3d1c22d7d8447fe" /><Relationship Type="http://schemas.openxmlformats.org/officeDocument/2006/relationships/extended-properties" Target="/docProps/app.xml" Id="R10119dd054a441f2" /><Relationship Type="http://schemas.openxmlformats.org/officeDocument/2006/relationships/officeDocument" Target="/ppt/presentation.xml" Id="R60e40a19c56a4fe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8a36d9be249421a"/>
  </p:sldMasterIdLst>
  <p:notesMasterIdLst>
    <p:notesMasterId xmlns:r="http://schemas.openxmlformats.org/officeDocument/2006/relationships" r:id="Rc18e0a846f1b4f03"/>
  </p:notesMasterIdLst>
  <p:sldIdLst>
    <p:sldId xmlns:r="http://schemas.openxmlformats.org/officeDocument/2006/relationships" id="256" r:id="Rf2438342885943ee"/>
    <p:sldId xmlns:r="http://schemas.openxmlformats.org/officeDocument/2006/relationships" id="257" r:id="Rfe62f91d9e6f493d"/>
    <p:sldId xmlns:r="http://schemas.openxmlformats.org/officeDocument/2006/relationships" id="258" r:id="R6ba7ad2ab2f04a72"/>
    <p:sldId xmlns:r="http://schemas.openxmlformats.org/officeDocument/2006/relationships" id="259" r:id="Rd42df34e031d4752"/>
    <p:sldId xmlns:r="http://schemas.openxmlformats.org/officeDocument/2006/relationships" id="260" r:id="R9b44c97740db4fa7"/>
    <p:sldId xmlns:r="http://schemas.openxmlformats.org/officeDocument/2006/relationships" id="261" r:id="R17bf9f7889a94132"/>
    <p:sldId xmlns:r="http://schemas.openxmlformats.org/officeDocument/2006/relationships" id="262" r:id="Rf4b7f5e3f92c4015"/>
    <p:sldId xmlns:r="http://schemas.openxmlformats.org/officeDocument/2006/relationships" id="263" r:id="R9f3dfd24e17d4585"/>
    <p:sldId xmlns:r="http://schemas.openxmlformats.org/officeDocument/2006/relationships" id="264" r:id="Rc3b28c8e1dcb48e5"/>
    <p:sldId xmlns:r="http://schemas.openxmlformats.org/officeDocument/2006/relationships" id="265" r:id="R740431d42c834894"/>
    <p:sldId xmlns:r="http://schemas.openxmlformats.org/officeDocument/2006/relationships" id="266" r:id="R474224376c4f424e"/>
    <p:sldId xmlns:r="http://schemas.openxmlformats.org/officeDocument/2006/relationships" id="267" r:id="R6563b8bb639f4cf3"/>
    <p:sldId xmlns:r="http://schemas.openxmlformats.org/officeDocument/2006/relationships" id="268" r:id="Rffd6a7eb526d41a7"/>
    <p:sldId xmlns:r="http://schemas.openxmlformats.org/officeDocument/2006/relationships" id="269" r:id="R717945c481fd4f33"/>
    <p:sldId xmlns:r="http://schemas.openxmlformats.org/officeDocument/2006/relationships" id="270" r:id="R160f1c2440ba4df0"/>
    <p:sldId xmlns:r="http://schemas.openxmlformats.org/officeDocument/2006/relationships" id="271" r:id="Rbccc3670889f4586"/>
    <p:sldId xmlns:r="http://schemas.openxmlformats.org/officeDocument/2006/relationships" id="272" r:id="R57aaba850e524090"/>
    <p:sldId xmlns:r="http://schemas.openxmlformats.org/officeDocument/2006/relationships" id="273" r:id="R435bba5eba8a4bf7"/>
    <p:sldId xmlns:r="http://schemas.openxmlformats.org/officeDocument/2006/relationships" id="274" r:id="R9cd526e24d514362"/>
    <p:sldId xmlns:r="http://schemas.openxmlformats.org/officeDocument/2006/relationships" id="275" r:id="Re7e4386ce6274c75"/>
  </p:sldIdLst>
  <p:sldSz cx="12192000" cy="6858000"/>
  <p:notesSz cx="6858000" cy="9144000"/>
  <p:embeddedFontLst>
    <p:embeddedFont>
      <p:font typeface="Inter"/>
      <p:regular xmlns:r="http://schemas.openxmlformats.org/officeDocument/2006/relationships" r:id="R6877882dae1e4ffb"/>
      <p:bold xmlns:r="http://schemas.openxmlformats.org/officeDocument/2006/relationships" r:id="R91b09c929e754817"/>
    </p:embeddedFont>
    <p:embeddedFont>
      <p:font typeface="Inter Medium"/>
      <p:regular xmlns:r="http://schemas.openxmlformats.org/officeDocument/2006/relationships" r:id="R30833af61e66419b"/>
    </p:embeddedFont>
    <p:embeddedFont>
      <p:font typeface="Inter SemiBold"/>
      <p:regular xmlns:r="http://schemas.openxmlformats.org/officeDocument/2006/relationships" r:id="R082f4510e4434f91"/>
      <p:bold xmlns:r="http://schemas.openxmlformats.org/officeDocument/2006/relationships" r:id="R25407e85206542e8"/>
    </p:embeddedFont>
    <p:embeddedFont>
      <p:font typeface="OpenAI Sans"/>
      <p:regular xmlns:r="http://schemas.openxmlformats.org/officeDocument/2006/relationships" r:id="R855bb46553574fa0"/>
      <p:bold xmlns:r="http://schemas.openxmlformats.org/officeDocument/2006/relationships" r:id="R6b2856cc72b046f0"/>
      <p:italic xmlns:r="http://schemas.openxmlformats.org/officeDocument/2006/relationships" r:id="Redda3a6a2dd743de"/>
      <p:boldItalic xmlns:r="http://schemas.openxmlformats.org/officeDocument/2006/relationships" r:id="R1de027e1ed9f42c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17169fcd5924254" /><Relationship Type="http://schemas.openxmlformats.org/officeDocument/2006/relationships/slideMaster" Target="/ppt/slideMasters/slideMaster1.xml" Id="Ra8a36d9be249421a" /><Relationship Type="http://schemas.openxmlformats.org/officeDocument/2006/relationships/notesMaster" Target="/ppt/notesMasters/notesMaster1.xml" Id="Rc18e0a846f1b4f03" /><Relationship Type="http://schemas.openxmlformats.org/officeDocument/2006/relationships/presProps" Target="/ppt/presProps.xml" Id="R7c2af76e2e04400f" /><Relationship Type="http://schemas.openxmlformats.org/officeDocument/2006/relationships/viewProps" Target="/ppt/viewProps.xml" Id="Rf775d414e0f842d4" /><Relationship Type="http://schemas.openxmlformats.org/officeDocument/2006/relationships/tableStyles" Target="/ppt/tableStyles.xml" Id="R0d8bbf279a9444b4" /><Relationship Type="http://schemas.openxmlformats.org/officeDocument/2006/relationships/font" Target="/ppt/fonts/font.dat" Id="R6877882dae1e4ffb" /><Relationship Type="http://schemas.openxmlformats.org/officeDocument/2006/relationships/font" Target="/ppt/fonts/font2.dat" Id="R91b09c929e754817" /><Relationship Type="http://schemas.openxmlformats.org/officeDocument/2006/relationships/font" Target="/ppt/fonts/font3.dat" Id="R30833af61e66419b" /><Relationship Type="http://schemas.openxmlformats.org/officeDocument/2006/relationships/font" Target="/ppt/fonts/font4.dat" Id="R082f4510e4434f91" /><Relationship Type="http://schemas.openxmlformats.org/officeDocument/2006/relationships/font" Target="/ppt/fonts/font5.dat" Id="R25407e85206542e8" /><Relationship Type="http://schemas.openxmlformats.org/officeDocument/2006/relationships/font" Target="/ppt/fonts/font6.dat" Id="R855bb46553574fa0" /><Relationship Type="http://schemas.openxmlformats.org/officeDocument/2006/relationships/font" Target="/ppt/fonts/font7.dat" Id="R6b2856cc72b046f0" /><Relationship Type="http://schemas.openxmlformats.org/officeDocument/2006/relationships/font" Target="/ppt/fonts/font8.dat" Id="Redda3a6a2dd743de" /><Relationship Type="http://schemas.openxmlformats.org/officeDocument/2006/relationships/font" Target="/ppt/fonts/font9.dat" Id="R1de027e1ed9f42c6" /><Relationship Type="http://schemas.openxmlformats.org/officeDocument/2006/relationships/slide" Target="/ppt/slides/slide1.xml" Id="Rf2438342885943ee" /><Relationship Type="http://schemas.openxmlformats.org/officeDocument/2006/relationships/slide" Target="/ppt/slides/slide2.xml" Id="Rfe62f91d9e6f493d" /><Relationship Type="http://schemas.openxmlformats.org/officeDocument/2006/relationships/slide" Target="/ppt/slides/slide3.xml" Id="R6ba7ad2ab2f04a72" /><Relationship Type="http://schemas.openxmlformats.org/officeDocument/2006/relationships/slide" Target="/ppt/slides/slide4.xml" Id="Rd42df34e031d4752" /><Relationship Type="http://schemas.openxmlformats.org/officeDocument/2006/relationships/slide" Target="/ppt/slides/slide5.xml" Id="R9b44c97740db4fa7" /><Relationship Type="http://schemas.openxmlformats.org/officeDocument/2006/relationships/slide" Target="/ppt/slides/slide6.xml" Id="R17bf9f7889a94132" /><Relationship Type="http://schemas.openxmlformats.org/officeDocument/2006/relationships/slide" Target="/ppt/slides/slide7.xml" Id="Rf4b7f5e3f92c4015" /><Relationship Type="http://schemas.openxmlformats.org/officeDocument/2006/relationships/slide" Target="/ppt/slides/slide8.xml" Id="R9f3dfd24e17d4585" /><Relationship Type="http://schemas.openxmlformats.org/officeDocument/2006/relationships/slide" Target="/ppt/slides/slide9.xml" Id="Rc3b28c8e1dcb48e5" /><Relationship Type="http://schemas.openxmlformats.org/officeDocument/2006/relationships/slide" Target="/ppt/slides/slide10.xml" Id="R740431d42c834894" /><Relationship Type="http://schemas.openxmlformats.org/officeDocument/2006/relationships/slide" Target="/ppt/slides/slide11.xml" Id="R474224376c4f424e" /><Relationship Type="http://schemas.openxmlformats.org/officeDocument/2006/relationships/slide" Target="/ppt/slides/slide12.xml" Id="R6563b8bb639f4cf3" /><Relationship Type="http://schemas.openxmlformats.org/officeDocument/2006/relationships/slide" Target="/ppt/slides/slide13.xml" Id="Rffd6a7eb526d41a7" /><Relationship Type="http://schemas.openxmlformats.org/officeDocument/2006/relationships/slide" Target="/ppt/slides/slide14.xml" Id="R717945c481fd4f33" /><Relationship Type="http://schemas.openxmlformats.org/officeDocument/2006/relationships/slide" Target="/ppt/slides/slide15.xml" Id="R160f1c2440ba4df0" /><Relationship Type="http://schemas.openxmlformats.org/officeDocument/2006/relationships/slide" Target="/ppt/slides/slide16.xml" Id="Rbccc3670889f4586" /><Relationship Type="http://schemas.openxmlformats.org/officeDocument/2006/relationships/slide" Target="/ppt/slides/slide17.xml" Id="R57aaba850e524090" /><Relationship Type="http://schemas.openxmlformats.org/officeDocument/2006/relationships/slide" Target="/ppt/slides/slide18.xml" Id="R435bba5eba8a4bf7" /><Relationship Type="http://schemas.openxmlformats.org/officeDocument/2006/relationships/slide" Target="/ppt/slides/slide19.xml" Id="R9cd526e24d514362" /><Relationship Type="http://schemas.openxmlformats.org/officeDocument/2006/relationships/slide" Target="/ppt/slides/slide20.xml" Id="Re7e4386ce6274c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8e80e7f3cb4d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b63f2face34cfa" /><Relationship Type="http://schemas.openxmlformats.org/officeDocument/2006/relationships/notesMaster" Target="/ppt/notesMasters/notesMaster1.xml" Id="R0f6ebcb5bfa141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01343c8d4849ed" /><Relationship Type="http://schemas.openxmlformats.org/officeDocument/2006/relationships/notesMaster" Target="/ppt/notesMasters/notesMaster1.xml" Id="R0d6c81b5b3ca4f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5c8f2ab31b48aa" /><Relationship Type="http://schemas.openxmlformats.org/officeDocument/2006/relationships/notesMaster" Target="/ppt/notesMasters/notesMaster1.xml" Id="Rfb7d39bb2e8749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3ddbfa150547dd" /><Relationship Type="http://schemas.openxmlformats.org/officeDocument/2006/relationships/notesMaster" Target="/ppt/notesMasters/notesMaster1.xml" Id="R998c882f38774f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fc9bc925ee4278" /><Relationship Type="http://schemas.openxmlformats.org/officeDocument/2006/relationships/notesMaster" Target="/ppt/notesMasters/notesMaster1.xml" Id="R3a75beffa46944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16d94c767e46ac" /><Relationship Type="http://schemas.openxmlformats.org/officeDocument/2006/relationships/notesMaster" Target="/ppt/notesMasters/notesMaster1.xml" Id="Ree7afac6e80a47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160588d6424cbc" /><Relationship Type="http://schemas.openxmlformats.org/officeDocument/2006/relationships/notesMaster" Target="/ppt/notesMasters/notesMaster1.xml" Id="R1560990ed1dc48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8dcf312f2a4a6c" /><Relationship Type="http://schemas.openxmlformats.org/officeDocument/2006/relationships/notesMaster" Target="/ppt/notesMasters/notesMaster1.xml" Id="R48d4a2e09e644e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c12433fc7445ac" /><Relationship Type="http://schemas.openxmlformats.org/officeDocument/2006/relationships/notesMaster" Target="/ppt/notesMasters/notesMaster1.xml" Id="R94bbf8051af64e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2dc17d35c54bdd" /><Relationship Type="http://schemas.openxmlformats.org/officeDocument/2006/relationships/notesMaster" Target="/ppt/notesMasters/notesMaster1.xml" Id="Rfeec5b5661a842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8629cb9b2248eb" /><Relationship Type="http://schemas.openxmlformats.org/officeDocument/2006/relationships/notesMaster" Target="/ppt/notesMasters/notesMaster1.xml" Id="Recfe5d870cbd46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a7b1d60e194bd3" /><Relationship Type="http://schemas.openxmlformats.org/officeDocument/2006/relationships/notesMaster" Target="/ppt/notesMasters/notesMaster1.xml" Id="R0f471842f18e4c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0c8928bbb64097" /><Relationship Type="http://schemas.openxmlformats.org/officeDocument/2006/relationships/notesMaster" Target="/ppt/notesMasters/notesMaster1.xml" Id="R3ef5706ab14146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a67cc6244c3439c" /><Relationship Type="http://schemas.openxmlformats.org/officeDocument/2006/relationships/notesMaster" Target="/ppt/notesMasters/notesMaster1.xml" Id="R462c1d8ec1e5445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6e9a8764084fb4" /><Relationship Type="http://schemas.openxmlformats.org/officeDocument/2006/relationships/notesMaster" Target="/ppt/notesMasters/notesMaster1.xml" Id="R6423ac73bbb64d8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4f55b6cad754dbf" /><Relationship Type="http://schemas.openxmlformats.org/officeDocument/2006/relationships/notesMaster" Target="/ppt/notesMasters/notesMaster1.xml" Id="R3159011c160247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49bf534cc644f1" /><Relationship Type="http://schemas.openxmlformats.org/officeDocument/2006/relationships/notesMaster" Target="/ppt/notesMasters/notesMaster1.xml" Id="Rfb48c7061b7342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5ffbbcd8c744fa" /><Relationship Type="http://schemas.openxmlformats.org/officeDocument/2006/relationships/notesMaster" Target="/ppt/notesMasters/notesMaster1.xml" Id="Racd06017333d47a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b6f24d39cf4099" /><Relationship Type="http://schemas.openxmlformats.org/officeDocument/2006/relationships/notesMaster" Target="/ppt/notesMasters/notesMaster1.xml" Id="R6bae970527a34ce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0b01317cca84331" /><Relationship Type="http://schemas.openxmlformats.org/officeDocument/2006/relationships/notesMaster" Target="/ppt/notesMasters/notesMaster1.xml" Id="R71fba2b385a648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0.5분</a:t>
            </a:r>
            <a:endParaRPr/>
          </a:p>
          <a:p xmlns:a="http://schemas.openxmlformats.org/drawingml/2006/main">
            <a:r>
              <a:t>본 프로젝트는 전국 전력수요를 다음 한 시간 앞까지 예측합니다. 모델 이름을 나열하는 데 그치지 않고 단순 기준선, 계절성 모형, 딥러닝을 같은 시간 조건에서 비교했습니다. 조와 발표자는 확정된 정보를 표지에 입력하세요.</a:t>
            </a:r>
            <a:endParaRPr/>
          </a:p>
          <a:p xmlns:a="http://schemas.openxmlformats.org/drawingml/2006/main">
            <a:r>
              <a:t/>
            </a:r>
            <a:endParaRPr/>
          </a:p>
          <a:p xmlns:a="http://schemas.openxmlformats.org/drawingml/2006/main">
            <a:r>
              <a:t>데이터: https://www.data.go.kr/tcs/dss/selectFileDataDetailView.do?publicDataPk=15065266</a:t>
            </a:r>
            <a:endParaRPr/>
          </a:p>
          <a:p xmlns:a="http://schemas.openxmlformats.org/drawingml/2006/main">
            <a:r>
              <a:t>기상: https://data.kma.go.kr/data/grnd/selectAsosRltmList.do?pgmNo=36</a:t>
            </a:r>
            <a:endParaRPr/>
          </a:p>
          <a:p xmlns:a="http://schemas.openxmlformats.org/drawingml/2006/main">
            <a:r>
              <a:t>LSTM: https://www.bioinf.jku.at/publications/older/2604.pdf</a:t>
            </a:r>
            <a:endParaRPr/>
          </a:p>
          <a:p xmlns:a="http://schemas.openxmlformats.org/drawingml/2006/main">
            <a:r>
              <a:t>Transformer: https://arxiv.org/abs/1706.03762</a:t>
            </a:r>
            <a:endParaRPr/>
          </a:p>
          <a:p xmlns:a="http://schemas.openxmlformats.org/drawingml/2006/main">
            <a:r>
              <a:t>SARIMA: https://www.statsmodels.org/stable/generated/statsmodels.tsa.statespace.sarimax.SARIMAX.html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0.5분</a:t>
            </a:r>
          </a:p>
          <a:p xmlns:a="http://schemas.openxmlformats.org/drawingml/2006/main">
            <a:r>
              <a:t>문제와 데이터, EDA, 실험 설계, 결과, 한계 순서로 설명합니다. 전체 발표 목표는 약 22분입니다. 질의응답 5~10분은 별도입니다.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1분</a:t>
            </a:r>
            <a:endParaRPr/>
          </a:p>
          <a:p xmlns:a="http://schemas.openxmlformats.org/drawingml/2006/main">
            <a:pPr marL="0" lvl="0" indent="0" algn="l">
              <a:spcBef>
                <a:spcPts val="0"/>
              </a:spcBef>
              <a:spcAft>
                <a:spcPts val="0"/>
              </a:spcAft>
              <a:buNone/>
            </a:pPr>
            <a:r>
              <a:t>전력거래소의 전국 발전단 수요는 소비자별 사용량과 다릅니다. 단위는 MWh이고 잠정자료입니다. 전국 수요와 7개 지역의 날씨를 연결했지만 관측소별 가중치는 적용하지 않았습니다. 왜 날씨를 넣는지 검증하기 위해 날씨 없는 LSTM도 학습했습니다.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데이터: https://www.data.go.kr/tcs/dss/selectFileDataDetailView.do?publicDataPk=15065266</a:t>
            </a:r>
            <a:endParaRPr/>
          </a:p>
          <a:p xmlns:a="http://schemas.openxmlformats.org/drawingml/2006/main">
            <a:pPr marL="0" lvl="0" indent="0" algn="l">
              <a:spcBef>
                <a:spcPts val="0"/>
              </a:spcBef>
              <a:spcAft>
                <a:spcPts val="0"/>
              </a:spcAft>
              <a:buNone/>
            </a:pPr>
            <a:r>
              <a:t>기상: https://data.kma.go.kr/data/grnd/selectAsosRltmList.do?pgmNo=36</a:t>
            </a:r>
            <a:endParaRPr/>
          </a:p>
          <a:p xmlns:a="http://schemas.openxmlformats.org/drawingml/2006/main">
            <a:pPr marL="0" lvl="0" indent="0" algn="l">
              <a:spcBef>
                <a:spcPts val="0"/>
              </a:spcBef>
              <a:spcAft>
                <a:spcPts val="0"/>
              </a:spcAft>
              <a:buNone/>
            </a:pPr>
            <a:r>
              <a:t>LSTM: https://www.bioinf.jku.at/publications/older/2604.pdf</a:t>
            </a:r>
            <a:endParaRPr/>
          </a:p>
          <a:p xmlns:a="http://schemas.openxmlformats.org/drawingml/2006/main">
            <a:pPr marL="0" lvl="0" indent="0" algn="l">
              <a:spcBef>
                <a:spcPts val="0"/>
              </a:spcBef>
              <a:spcAft>
                <a:spcPts val="0"/>
              </a:spcAft>
              <a:buNone/>
            </a:pPr>
            <a:r>
              <a:t>Transformer: https://arxiv.org/abs/1706.03762</a:t>
            </a:r>
            <a:endParaRPr/>
          </a:p>
          <a:p xmlns:a="http://schemas.openxmlformats.org/drawingml/2006/main">
            <a:pPr marL="0" lvl="0" indent="0" algn="l">
              <a:spcBef>
                <a:spcPts val="0"/>
              </a:spcBef>
              <a:spcAft>
                <a:spcPts val="0"/>
              </a:spcAft>
              <a:buNone/>
            </a:pPr>
            <a:r>
              <a:t>SARIMA: https://www.statsmodels.org/stable/generated/statsmodels.tsa.statespace.sarimax.SARIMAX.html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1분</a:t>
            </a:r>
          </a:p>
          <a:p xmlns:a="http://schemas.openxmlformats.org/drawingml/2006/main">
            <a:r>
              <a:t>광주 한 시간 행 누락과 풍속 19개 빈칸을 발견했습니다. 행 누락까지 포함하면 풍속 대체 대상은 20개입니다. 강수와 일조가 비어 있다고 모든 경우에 0이라고 단정할 수 없어 0 대체 가정과 결측 표시를 남겼습니다. 미래 값으로 보간하지 않았습니다.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1분</a:t>
            </a:r>
          </a:p>
          <a:p xmlns:a="http://schemas.openxmlformats.org/drawingml/2006/main">
            <a:r>
              <a:t>학습 구간만으로 시각·요일 패턴을 계산했습니다. 평일과 주말 차이가 커 달력 특성을 입력했습니다. 별도 EDA 노트북에서 기온과 수요의 산점도도 확인할 수 있습니다. 기온 단순 상관은 약 0.184이며 인과효과를 뜻하지 않습니다.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1분</a:t>
            </a:r>
            <a:endParaRPr/>
          </a:p>
          <a:p xmlns:a="http://schemas.openxmlformats.org/drawingml/2006/main">
            <a:pPr marL="0" lvl="0" indent="0" algn="l">
              <a:spcBef>
                <a:spcPts val="0"/>
              </a:spcBef>
              <a:spcAft>
                <a:spcPts val="0"/>
              </a:spcAft>
              <a:buNone/>
            </a:pPr>
            <a:r>
              <a:t>자기상관은 1시간 0.973, 24시간 0.803, 168시간 0.820입니다. 최근 수요와 계절성만으로도 높은 예측력이 있을 수 있으므로 쉬운 기준선을 생략하지 않았습니다. 잔차 구조를 사용한 이유도 높은 단기 지속성에 있습니다.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데이터: https://www.data.go.kr/tcs/dss/selectFileDataDetailView.do?publicDataPk=15065266</a:t>
            </a:r>
            <a:endParaRPr/>
          </a:p>
          <a:p xmlns:a="http://schemas.openxmlformats.org/drawingml/2006/main">
            <a:pPr marL="0" lvl="0" indent="0" algn="l">
              <a:spcBef>
                <a:spcPts val="0"/>
              </a:spcBef>
              <a:spcAft>
                <a:spcPts val="0"/>
              </a:spcAft>
              <a:buNone/>
            </a:pPr>
            <a:r>
              <a:t>기상: https://data.kma.go.kr/data/grnd/selectAsosRltmList.do?pgmNo=36</a:t>
            </a:r>
            <a:endParaRPr/>
          </a:p>
          <a:p xmlns:a="http://schemas.openxmlformats.org/drawingml/2006/main">
            <a:pPr marL="0" lvl="0" indent="0" algn="l">
              <a:spcBef>
                <a:spcPts val="0"/>
              </a:spcBef>
              <a:spcAft>
                <a:spcPts val="0"/>
              </a:spcAft>
              <a:buNone/>
            </a:pPr>
            <a:r>
              <a:t>LSTM: https://www.bioinf.jku.at/publications/older/2604.pdf</a:t>
            </a:r>
            <a:endParaRPr/>
          </a:p>
          <a:p xmlns:a="http://schemas.openxmlformats.org/drawingml/2006/main">
            <a:pPr marL="0" lvl="0" indent="0" algn="l">
              <a:spcBef>
                <a:spcPts val="0"/>
              </a:spcBef>
              <a:spcAft>
                <a:spcPts val="0"/>
              </a:spcAft>
              <a:buNone/>
            </a:pPr>
            <a:r>
              <a:t>Transformer: https://arxiv.org/abs/1706.03762</a:t>
            </a:r>
            <a:endParaRPr/>
          </a:p>
          <a:p xmlns:a="http://schemas.openxmlformats.org/drawingml/2006/main">
            <a:pPr marL="0" lvl="0" indent="0" algn="l">
              <a:spcBef>
                <a:spcPts val="0"/>
              </a:spcBef>
              <a:spcAft>
                <a:spcPts val="0"/>
              </a:spcAft>
              <a:buNone/>
            </a:pPr>
            <a:r>
              <a:t>SARIMA: https://www.statsmodels.org/stable/generated/statsmodels.tsa.statespace.sarimax.SARIMAX.html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1.5분</a:t>
            </a:r>
          </a:p>
          <a:p xmlns:a="http://schemas.openxmlformats.org/drawingml/2006/main">
            <a:r>
              <a:t>학습 70%를 유지하고 기존 검증 부분을 선택 876시간과 구간 보정 438시간으로 나눴습니다. 테스트는 마지막 1314시간입니다. t를 예측할 때 t-1까지의 관측만 입력합니다. 모델 가중치는 테스트에서 업데이트하지 않으며 SARIMA는 새 관측으로 상태만 갱신합니다. 관측이 즉시 제공된다는 가정은 운영 적용의 한계입니다.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1.5분</a:t>
            </a:r>
          </a:p>
          <a:p xmlns:a="http://schemas.openxmlformats.org/drawingml/2006/main">
            <a:r>
              <a:t>원본 24시는 다음 날짜 00시로 정렬했습니다. 연속형 기상 변수는 forward fill을 적용했고 첫 값이 없으면 임의로 채우지 않고 중단하도록 구현했습니다. 목표 수요는 변경하지 않습니다. IQR 이상치 후보는 실제 피크일 수 있으므로 삭제하지 않았습니다.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1.5분</a:t>
            </a:r>
            <a:endParaRPr/>
          </a:p>
          <a:p xmlns:a="http://schemas.openxmlformats.org/drawingml/2006/main">
            <a:pPr marL="0" lvl="0" indent="0" algn="l">
              <a:spcBef>
                <a:spcPts val="0"/>
              </a:spcBef>
              <a:spcAft>
                <a:spcPts val="0"/>
              </a:spcAft>
              <a:buNone/>
            </a:pPr>
            <a:r>
              <a:t>LSTM은 게이트로 셀 상태와 hidden state를 갱신합니다. 구현은 1층 hidden32의 작은 모형입니다. 마지막 hidden state로 다음 수요 변화량을 출력하고 직전 수요에 더합니다. 변화량 자체의 정답은 미래이지만 입력에 미래 수요는 포함하지 않습니다. 학습은 예측 수요와 실제 수요 사이의 MSE로 수행합니다.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데이터: https://www.data.go.kr/tcs/dss/selectFileDataDetailView.do?publicDataPk=15065266</a:t>
            </a:r>
            <a:endParaRPr/>
          </a:p>
          <a:p xmlns:a="http://schemas.openxmlformats.org/drawingml/2006/main">
            <a:pPr marL="0" lvl="0" indent="0" algn="l">
              <a:spcBef>
                <a:spcPts val="0"/>
              </a:spcBef>
              <a:spcAft>
                <a:spcPts val="0"/>
              </a:spcAft>
              <a:buNone/>
            </a:pPr>
            <a:r>
              <a:t>기상: https://data.kma.go.kr/data/grnd/selectAsosRltmList.do?pgmNo=36</a:t>
            </a:r>
            <a:endParaRPr/>
          </a:p>
          <a:p xmlns:a="http://schemas.openxmlformats.org/drawingml/2006/main">
            <a:pPr marL="0" lvl="0" indent="0" algn="l">
              <a:spcBef>
                <a:spcPts val="0"/>
              </a:spcBef>
              <a:spcAft>
                <a:spcPts val="0"/>
              </a:spcAft>
              <a:buNone/>
            </a:pPr>
            <a:r>
              <a:t>LSTM: https://www.bioinf.jku.at/publications/older/2604.pdf</a:t>
            </a:r>
            <a:endParaRPr/>
          </a:p>
          <a:p xmlns:a="http://schemas.openxmlformats.org/drawingml/2006/main">
            <a:pPr marL="0" lvl="0" indent="0" algn="l">
              <a:spcBef>
                <a:spcPts val="0"/>
              </a:spcBef>
              <a:spcAft>
                <a:spcPts val="0"/>
              </a:spcAft>
              <a:buNone/>
            </a:pPr>
            <a:r>
              <a:t>Transformer: https://arxiv.org/abs/1706.03762</a:t>
            </a:r>
            <a:endParaRPr/>
          </a:p>
          <a:p xmlns:a="http://schemas.openxmlformats.org/drawingml/2006/main">
            <a:pPr marL="0" lvl="0" indent="0" algn="l">
              <a:spcBef>
                <a:spcPts val="0"/>
              </a:spcBef>
              <a:spcAft>
                <a:spcPts val="0"/>
              </a:spcAft>
              <a:buNone/>
            </a:pPr>
            <a:r>
              <a:t>SARIMA: https://www.statsmodels.org/stable/generated/statsmodels.tsa.statespace.sarimax.SARIMAX.html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1.5분</a:t>
            </a:r>
            <a:endParaRPr/>
          </a:p>
          <a:p xmlns:a="http://schemas.openxmlformats.org/drawingml/2006/main">
            <a:pPr marL="0" lvl="0" indent="0" algn="l">
              <a:spcBef>
                <a:spcPts val="0"/>
              </a:spcBef>
              <a:spcAft>
                <a:spcPts val="0"/>
              </a:spcAft>
              <a:buNone/>
            </a:pPr>
            <a:r>
              <a:t>Transformer는 Q,K,V 기반 attention으로 과거 입력 간 관련성을 학습합니다. 시점 순서를 전달하기 위해 학습 가능한 위치 임베딩을 더합니다. encoder 입력 전체가 이미 관측된 과거이므로 창 내부 attention의 양방향 처리는 예측 시점 이후 정보를 사용하지 않습니다. 데이터 규모에 맞춰 1층 4head로 제한했습니다.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데이터: https://www.data.go.kr/tcs/dss/selectFileDataDetailView.do?publicDataPk=15065266</a:t>
            </a:r>
            <a:endParaRPr/>
          </a:p>
          <a:p xmlns:a="http://schemas.openxmlformats.org/drawingml/2006/main">
            <a:pPr marL="0" lvl="0" indent="0" algn="l">
              <a:spcBef>
                <a:spcPts val="0"/>
              </a:spcBef>
              <a:spcAft>
                <a:spcPts val="0"/>
              </a:spcAft>
              <a:buNone/>
            </a:pPr>
            <a:r>
              <a:t>기상: https://data.kma.go.kr/data/grnd/selectAsosRltmList.do?pgmNo=36</a:t>
            </a:r>
            <a:endParaRPr/>
          </a:p>
          <a:p xmlns:a="http://schemas.openxmlformats.org/drawingml/2006/main">
            <a:pPr marL="0" lvl="0" indent="0" algn="l">
              <a:spcBef>
                <a:spcPts val="0"/>
              </a:spcBef>
              <a:spcAft>
                <a:spcPts val="0"/>
              </a:spcAft>
              <a:buNone/>
            </a:pPr>
            <a:r>
              <a:t>LSTM: https://www.bioinf.jku.at/publications/older/2604.pdf</a:t>
            </a:r>
            <a:endParaRPr/>
          </a:p>
          <a:p xmlns:a="http://schemas.openxmlformats.org/drawingml/2006/main">
            <a:pPr marL="0" lvl="0" indent="0" algn="l">
              <a:spcBef>
                <a:spcPts val="0"/>
              </a:spcBef>
              <a:spcAft>
                <a:spcPts val="0"/>
              </a:spcAft>
              <a:buNone/>
            </a:pPr>
            <a:r>
              <a:t>Transformer: https://arxiv.org/abs/1706.03762</a:t>
            </a:r>
            <a:endParaRPr/>
          </a:p>
          <a:p xmlns:a="http://schemas.openxmlformats.org/drawingml/2006/main">
            <a:pPr marL="0" lvl="0" indent="0" algn="l">
              <a:spcBef>
                <a:spcPts val="0"/>
              </a:spcBef>
              <a:spcAft>
                <a:spcPts val="0"/>
              </a:spcAft>
              <a:buNone/>
            </a:pPr>
            <a:r>
              <a:t>SARIMA: https://www.statsmodels.org/stable/generated/statsmodels.tsa.statespace.sarimax.SARIMAX.html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1분</a:t>
            </a:r>
          </a:p>
          <a:p xmlns:a="http://schemas.openxmlformats.org/drawingml/2006/main">
            <a:r>
              <a:t>두 딥러닝 모델은 동일한 최적화 설정과 최대 epoch 예산을 사용했습니다. 검증 손실이 개선되지 않으면 조기 종료합니다. seed 3개를 모두 공개하고 대표 seed는 검증 결과로 선택합니다. 파라미터 수는 날씨 LSTM 16673, 수요·달력 LSTM 5921, Transformer 12833으로 같지 않습니다.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1분</a:t>
            </a:r>
          </a:p>
          <a:p xmlns:a="http://schemas.openxmlformats.org/drawingml/2006/main">
            <a:r>
              <a:t>주요 결과는 SARIMA가 가장 정확하다는 것입니다. 딥러닝도 의미 있는 예측을 했지만 고전 모형의 성능을 넘지 못했습니다. 높은 단기 상관과 계절성이 그 이유일 수 있으나 원인을 입증한 분해 실험은 아닙니다.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1.5분</a:t>
            </a:r>
            <a:endParaRPr/>
          </a:p>
          <a:p xmlns:a="http://schemas.openxmlformats.org/drawingml/2006/main">
            <a:pPr marL="0" lvl="0" indent="0" algn="l">
              <a:spcBef>
                <a:spcPts val="0"/>
              </a:spcBef>
              <a:spcAft>
                <a:spcPts val="0"/>
              </a:spcAft>
              <a:buNone/>
            </a:pPr>
            <a:r>
              <a:t>MAE는 평균 절대오차, RMSE는 큰 오차에 민감한 지표입니다. MAPE는 비율입니다. 직전1시간 기준선 RMSE2678과 비교하면 날씨 LSTM은 약62.3%, Transformer는 약64.2% 작습니다. 같은 시간의 정답에 대해 비교했습니다. 하루24시간을 한 번에 예측하면 결과가 달라질 수 있습니다.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데이터: https://www.data.go.kr/tcs/dss/selectFileDataDetailView.do?publicDataPk=15065266</a:t>
            </a:r>
            <a:endParaRPr/>
          </a:p>
          <a:p xmlns:a="http://schemas.openxmlformats.org/drawingml/2006/main">
            <a:pPr marL="0" lvl="0" indent="0" algn="l">
              <a:spcBef>
                <a:spcPts val="0"/>
              </a:spcBef>
              <a:spcAft>
                <a:spcPts val="0"/>
              </a:spcAft>
              <a:buNone/>
            </a:pPr>
            <a:r>
              <a:t>기상: https://data.kma.go.kr/data/grnd/selectAsosRltmList.do?pgmNo=36</a:t>
            </a:r>
            <a:endParaRPr/>
          </a:p>
          <a:p xmlns:a="http://schemas.openxmlformats.org/drawingml/2006/main">
            <a:pPr marL="0" lvl="0" indent="0" algn="l">
              <a:spcBef>
                <a:spcPts val="0"/>
              </a:spcBef>
              <a:spcAft>
                <a:spcPts val="0"/>
              </a:spcAft>
              <a:buNone/>
            </a:pPr>
            <a:r>
              <a:t>LSTM: https://www.bioinf.jku.at/publications/older/2604.pdf</a:t>
            </a:r>
            <a:endParaRPr/>
          </a:p>
          <a:p xmlns:a="http://schemas.openxmlformats.org/drawingml/2006/main">
            <a:pPr marL="0" lvl="0" indent="0" algn="l">
              <a:spcBef>
                <a:spcPts val="0"/>
              </a:spcBef>
              <a:spcAft>
                <a:spcPts val="0"/>
              </a:spcAft>
              <a:buNone/>
            </a:pPr>
            <a:r>
              <a:t>Transformer: https://arxiv.org/abs/1706.03762</a:t>
            </a:r>
            <a:endParaRPr/>
          </a:p>
          <a:p xmlns:a="http://schemas.openxmlformats.org/drawingml/2006/main">
            <a:pPr marL="0" lvl="0" indent="0" algn="l">
              <a:spcBef>
                <a:spcPts val="0"/>
              </a:spcBef>
              <a:spcAft>
                <a:spcPts val="0"/>
              </a:spcAft>
              <a:buNone/>
            </a:pPr>
            <a:r>
              <a:t>SARIMA: https://www.statsmodels.org/stable/generated/statsmodels.tsa.statespace.sarimax.SARIMAX.html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1분</a:t>
            </a:r>
          </a:p>
          <a:p xmlns:a="http://schemas.openxmlformats.org/drawingml/2006/main">
            <a:r>
              <a:t>시각화를 위해 테스트 첫72시간을 보여줍니다. 전체 수치평가는1314시간을 사용합니다. 예측선이 실제 패턴을 따라가더라도 특정 급변 시간에 오차가 생길 수 있습니다. 그림의 구간 선택이 성능표를 대신하지 않습니다.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1분</a:t>
            </a:r>
          </a:p>
          <a:p xmlns:a="http://schemas.openxmlformats.org/drawingml/2006/main">
            <a:r>
              <a:t>날씨 입력 LSTM이 테스트에서 더 좋지만 검증에서는 날씨 없는 모형이 더 좋았습니다. 3개 seed 평균도 함께 봐야 합니다. 입력 차원과 파라미터 수가 달라 날씨의 인과적 효과라고 말할 수 없습니다. 반복 간 표준편차를 통계적 신뢰구간처럼 해석하지 않습니다.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1분</a:t>
            </a:r>
          </a:p>
          <a:p xmlns:a="http://schemas.openxmlformats.org/drawingml/2006/main">
            <a:r>
              <a:t>전체 평균과 부분 구간 순위가 다릅니다. SARIMA는 전체에서 유리하지만 주말에서는 두 딥러닝 모델의 RMSE가 더 작습니다. 고수요 기준은 학습90백분위로 고정했고 테스트에는27시간만 해당합니다. 표본이 적어 극단 수요에 강하다는 결론은 내리지 않습니다.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1분</a:t>
            </a:r>
            <a:endParaRPr/>
          </a:p>
          <a:p xmlns:a="http://schemas.openxmlformats.org/drawingml/2006/main">
            <a:pPr marL="0" lvl="0" indent="0" algn="l">
              <a:spcBef>
                <a:spcPts val="0"/>
              </a:spcBef>
              <a:spcAft>
                <a:spcPts val="0"/>
              </a:spcAft>
              <a:buNone/>
            </a:pPr>
            <a:r>
              <a:t>기간·지역·관측 지연·공휴일·QC 정보가 모두 한계입니다. 특히 과거 버전에서 같은 테스트 기간을 이미 확인했으므로 완전히 새로운 테스트를 통한 확증 실험으로 주장하지 않습니다. 새로운 연도에서 재검증해야 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데이터: https://www.data.go.kr/tcs/dss/selectFileDataDetailView.do?publicDataPk=15065266</a:t>
            </a:r>
            <a:endParaRPr/>
          </a:p>
          <a:p xmlns:a="http://schemas.openxmlformats.org/drawingml/2006/main">
            <a:pPr marL="0" lvl="0" indent="0" algn="l">
              <a:spcBef>
                <a:spcPts val="0"/>
              </a:spcBef>
              <a:spcAft>
                <a:spcPts val="0"/>
              </a:spcAft>
              <a:buNone/>
            </a:pPr>
            <a:r>
              <a:t>기상: https://data.kma.go.kr/data/grnd/selectAsosRltmList.do?pgmNo=36</a:t>
            </a:r>
            <a:endParaRPr/>
          </a:p>
          <a:p xmlns:a="http://schemas.openxmlformats.org/drawingml/2006/main">
            <a:pPr marL="0" lvl="0" indent="0" algn="l">
              <a:spcBef>
                <a:spcPts val="0"/>
              </a:spcBef>
              <a:spcAft>
                <a:spcPts val="0"/>
              </a:spcAft>
              <a:buNone/>
            </a:pPr>
            <a:r>
              <a:t>LSTM: https://www.bioinf.jku.at/publications/older/2604.pdf</a:t>
            </a:r>
            <a:endParaRPr/>
          </a:p>
          <a:p xmlns:a="http://schemas.openxmlformats.org/drawingml/2006/main">
            <a:pPr marL="0" lvl="0" indent="0" algn="l">
              <a:spcBef>
                <a:spcPts val="0"/>
              </a:spcBef>
              <a:spcAft>
                <a:spcPts val="0"/>
              </a:spcAft>
              <a:buNone/>
            </a:pPr>
            <a:r>
              <a:t>Transformer: https://arxiv.org/abs/1706.03762</a:t>
            </a:r>
            <a:endParaRPr/>
          </a:p>
          <a:p xmlns:a="http://schemas.openxmlformats.org/drawingml/2006/main">
            <a:pPr marL="0" lvl="0" indent="0" algn="l">
              <a:spcBef>
                <a:spcPts val="0"/>
              </a:spcBef>
              <a:spcAft>
                <a:spcPts val="0"/>
              </a:spcAft>
              <a:buNone/>
            </a:pPr>
            <a:r>
              <a:t>SARIMA: https://www.statsmodels.org/stable/generated/statsmodels.tsa.statespace.sarimax.SARIMAX.html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1.5분</a:t>
            </a:r>
          </a:p>
          <a:p xmlns:a="http://schemas.openxmlformats.org/drawingml/2006/main">
            <a:r>
              <a:t>모델 선택과 구간 보정을 분리했습니다. 절대 잔차의 상위 분위수로 고정폭 구간을 만듭니다. SARIMA 포함률90.1%, LSTM92.8%, Transformer96.9%이고 폭도 다릅니다. 가장 넓은 구간이 자동으로 좋은 것은 아닙니다. 시계열에서는 명목95%의 엄밀한 보장을 주장하지 않습니다.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1분</a:t>
            </a:r>
          </a:p>
          <a:p xmlns:a="http://schemas.openxmlformats.org/drawingml/2006/main">
            <a:r>
              <a:t>이번 실험에서 얻은 결론과 다음 실험을 연결합니다. 핵심은 데이터에 맞는 기준선 비교와 오류 해석입니다. 원본·코드·전처리 데이터·결과표·모델·발표PDF를 함께 제공해 재현할 수 있게 했습니다.</a:t>
            </a:r>
          </a:p>
          <a:p xmlns:a="http://schemas.openxmlformats.org/drawingml/2006/main">
            <a:r>
              <a:t/>
            </a:r>
          </a:p>
          <a:p xmlns:a="http://schemas.openxmlformats.org/drawingml/2006/main">
            <a:r>
              <a:t>데이터: https://www.data.go.kr/tcs/dss/selectFileDataDetailView.do?publicDataPk=15065266</a:t>
            </a:r>
          </a:p>
          <a:p xmlns:a="http://schemas.openxmlformats.org/drawingml/2006/main">
            <a:r>
              <a:t>기상: https://data.kma.go.kr/data/grnd/selectAsosRltmList.do?pgmNo=36</a:t>
            </a:r>
          </a:p>
          <a:p xmlns:a="http://schemas.openxmlformats.org/drawingml/2006/main">
            <a:r>
              <a:t>LSTM: https://www.bioinf.jku.at/publications/older/2604.pdf</a:t>
            </a:r>
          </a:p>
          <a:p xmlns:a="http://schemas.openxmlformats.org/drawingml/2006/main">
            <a:r>
              <a:t>Transformer: https://arxiv.org/abs/1706.03762</a:t>
            </a:r>
          </a:p>
          <a:p xmlns:a="http://schemas.openxmlformats.org/drawingml/2006/main">
            <a:r>
              <a:t>SARIMA: https://www.statsmodels.org/stable/generated/statsmodels.tsa.statespace.sarimax.SARIMAX.html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0.5분</a:t>
            </a:r>
            <a:endParaRPr/>
          </a:p>
          <a:p xmlns:a="http://schemas.openxmlformats.org/drawingml/2006/main">
            <a:r>
              <a:t>질문을 받습니다. 예상 질문은 왜1시간 앞인가, 왜SARIMA가 더 좋은가, 날씨를 넣으면 항상 좋아지는가, 95%구간은 보장되는가, 여름에도 가능한가입니다. 각각 예측조건, 자기상관 가설, 기간별 순위차이, 시계열 의존성, 겨울 중심 테스트 한계로 답할 수 있습니다.</a:t>
            </a:r>
            <a:endParaRPr/>
          </a:p>
          <a:p xmlns:a="http://schemas.openxmlformats.org/drawingml/2006/main">
            <a:r>
              <a:t/>
            </a:r>
            <a:endParaRPr/>
          </a:p>
          <a:p xmlns:a="http://schemas.openxmlformats.org/drawingml/2006/main">
            <a:r>
              <a:t>데이터: https://www.data.go.kr/tcs/dss/selectFileDataDetailView.do?publicDataPk=15065266</a:t>
            </a:r>
            <a:endParaRPr/>
          </a:p>
          <a:p xmlns:a="http://schemas.openxmlformats.org/drawingml/2006/main">
            <a:r>
              <a:t>기상: https://data.kma.go.kr/data/grnd/selectAsosRltmList.do?pgmNo=36</a:t>
            </a:r>
            <a:endParaRPr/>
          </a:p>
          <a:p xmlns:a="http://schemas.openxmlformats.org/drawingml/2006/main">
            <a:r>
              <a:t>LSTM: https://www.bioinf.jku.at/publications/older/2604.pdf</a:t>
            </a:r>
            <a:endParaRPr/>
          </a:p>
          <a:p xmlns:a="http://schemas.openxmlformats.org/drawingml/2006/main">
            <a:r>
              <a:t>Transformer: https://arxiv.org/abs/1706.03762</a:t>
            </a:r>
            <a:endParaRPr/>
          </a:p>
          <a:p xmlns:a="http://schemas.openxmlformats.org/drawingml/2006/main">
            <a:r>
              <a:t>SARIMA: https://www.statsmodels.org/stable/generated/statsmodels.tsa.statespace.sarimax.SARIMAX.html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7c4e43e83540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0e75881d99d47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e4c3bf84f84e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773fd626f64e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f60c133f804a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0d6259460f47e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2b36b0b144540e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a75f68c66f24986"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678592e51447da" /><Relationship Type="http://schemas.openxmlformats.org/officeDocument/2006/relationships/slideLayout" Target="/ppt/slideLayouts/slideLayout1.xml" Id="R05003d4f25264078" /><Relationship Type="http://schemas.openxmlformats.org/officeDocument/2006/relationships/slideLayout" Target="/ppt/slideLayouts/slideLayout2.xml" Id="R5cca4cc497d74c80" /><Relationship Type="http://schemas.openxmlformats.org/officeDocument/2006/relationships/slideLayout" Target="/ppt/slideLayouts/slideLayout3.xml" Id="R532698d5cc724a24" /><Relationship Type="http://schemas.openxmlformats.org/officeDocument/2006/relationships/slideLayout" Target="/ppt/slideLayouts/slideLayout4.xml" Id="R5a1be9a9067744f1" /><Relationship Type="http://schemas.openxmlformats.org/officeDocument/2006/relationships/slideLayout" Target="/ppt/slideLayouts/slideLayout5.xml" Id="R230f4b0b5d05413b" /><Relationship Type="http://schemas.openxmlformats.org/officeDocument/2006/relationships/slideLayout" Target="/ppt/slideLayouts/slideLayout6.xml" Id="Ra7932c29b142405e" /><Relationship Type="http://schemas.openxmlformats.org/officeDocument/2006/relationships/slideLayout" Target="/ppt/slideLayouts/slideLayout7.xml" Id="Rc758c684a63b49f4" /><Relationship Type="http://schemas.openxmlformats.org/officeDocument/2006/relationships/slideLayout" Target="/ppt/slideLayouts/slideLayout8.xml" Id="R91ddc6853b484589" /></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05003d4f25264078"/>
    <p:sldLayoutId xmlns:r="http://schemas.openxmlformats.org/officeDocument/2006/relationships" id="2147483650" r:id="R5cca4cc497d74c80"/>
    <p:sldLayoutId xmlns:r="http://schemas.openxmlformats.org/officeDocument/2006/relationships" id="2147483651" r:id="R532698d5cc724a24"/>
    <p:sldLayoutId xmlns:r="http://schemas.openxmlformats.org/officeDocument/2006/relationships" id="2147483652" r:id="R5a1be9a9067744f1"/>
    <p:sldLayoutId xmlns:r="http://schemas.openxmlformats.org/officeDocument/2006/relationships" id="2147483653" r:id="R230f4b0b5d05413b"/>
    <p:sldLayoutId xmlns:r="http://schemas.openxmlformats.org/officeDocument/2006/relationships" id="2147483654" r:id="Ra7932c29b142405e"/>
    <p:sldLayoutId xmlns:r="http://schemas.openxmlformats.org/officeDocument/2006/relationships" id="2147483655" r:id="Rc758c684a63b49f4"/>
    <p:sldLayoutId xmlns:r="http://schemas.openxmlformats.org/officeDocument/2006/relationships" id="2147483656" r:id="R91ddc6853b484589"/>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36a8ef6d1d4c07" /><Relationship Type="http://schemas.openxmlformats.org/officeDocument/2006/relationships/notesSlide" Target="/ppt/notesSlides/notesSlide1.xml" Id="R9b860c93765e49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d1154075b3421a" /><Relationship Type="http://schemas.openxmlformats.org/officeDocument/2006/relationships/notesSlide" Target="/ppt/notesSlides/notesSlide2.xml" Id="Rc464a1e823aa4a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b7a8eed193494e" /><Relationship Type="http://schemas.openxmlformats.org/officeDocument/2006/relationships/notesSlide" Target="/ppt/notesSlides/notesSlide3.xml" Id="R0b4a8c53f7a545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3d5786193634827" /><Relationship Type="http://schemas.openxmlformats.org/officeDocument/2006/relationships/notesSlide" Target="/ppt/notesSlides/notesSlide4.xml" Id="Re7b4ddb47f224d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ddd4a858da24dae" /><Relationship Type="http://schemas.openxmlformats.org/officeDocument/2006/relationships/chart" Target="/ppt/slides/charts/chart1.xml" Id="R9c2f553706fc47d9" /><Relationship Type="http://schemas.openxmlformats.org/officeDocument/2006/relationships/chart" Target="/ppt/slides/charts/chart2.xml" Id="R1492533b45bd4f0c" /><Relationship Type="http://schemas.openxmlformats.org/officeDocument/2006/relationships/notesSlide" Target="/ppt/notesSlides/notesSlide5.xml" Id="Rf338438ea7104f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5dceae4590046fe" /><Relationship Type="http://schemas.openxmlformats.org/officeDocument/2006/relationships/notesSlide" Target="/ppt/notesSlides/notesSlide6.xml" Id="R3f626d5454ee45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a5998fd1e7489f" /><Relationship Type="http://schemas.openxmlformats.org/officeDocument/2006/relationships/notesSlide" Target="/ppt/notesSlides/notesSlide7.xml" Id="R32a767bbcfcf4b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fa4bff08acd4750" /><Relationship Type="http://schemas.openxmlformats.org/officeDocument/2006/relationships/notesSlide" Target="/ppt/notesSlides/notesSlide8.xml" Id="Re181d9703dc54f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c93dc65fe854096" /><Relationship Type="http://schemas.openxmlformats.org/officeDocument/2006/relationships/notesSlide" Target="/ppt/notesSlides/notesSlide9.xml" Id="R5c591575aab84a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e5499acfaad4c3f" /><Relationship Type="http://schemas.openxmlformats.org/officeDocument/2006/relationships/notesSlide" Target="/ppt/notesSlides/notesSlide10.xml" Id="R053113271c2a49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752fb969e0f4371" /><Relationship Type="http://schemas.openxmlformats.org/officeDocument/2006/relationships/notesSlide" Target="/ppt/notesSlides/notesSlide11.xml" Id="Re4888ab936c945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8fd00682c2645d9" /><Relationship Type="http://schemas.openxmlformats.org/officeDocument/2006/relationships/notesSlide" Target="/ppt/notesSlides/notesSlide12.xml" Id="R61743bec27bc4ad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23e2161773e4331" /><Relationship Type="http://schemas.openxmlformats.org/officeDocument/2006/relationships/notesSlide" Target="/ppt/notesSlides/notesSlide13.xml" Id="R0ac29331e8f44d8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1d84b543fce4072" /><Relationship Type="http://schemas.openxmlformats.org/officeDocument/2006/relationships/chart" Target="/ppt/slides/charts/chart3.xml" Id="R37cca421353740ff" /><Relationship Type="http://schemas.openxmlformats.org/officeDocument/2006/relationships/notesSlide" Target="/ppt/notesSlides/notesSlide14.xml" Id="Ra5f3afb440544d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5e2270930434c8f" /><Relationship Type="http://schemas.openxmlformats.org/officeDocument/2006/relationships/notesSlide" Target="/ppt/notesSlides/notesSlide15.xml" Id="R89f1d5a376af42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dc9ca3c94a64757" /><Relationship Type="http://schemas.openxmlformats.org/officeDocument/2006/relationships/notesSlide" Target="/ppt/notesSlides/notesSlide16.xml" Id="R32b5f932f78946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0573b45df8a4d63" /><Relationship Type="http://schemas.openxmlformats.org/officeDocument/2006/relationships/notesSlide" Target="/ppt/notesSlides/notesSlide17.xml" Id="Rb936c70e61ab4d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2b838ca795f4f9a" /><Relationship Type="http://schemas.openxmlformats.org/officeDocument/2006/relationships/notesSlide" Target="/ppt/notesSlides/notesSlide18.xml" Id="R7f80a748f5de4d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f8defca1bb44a3d" /><Relationship Type="http://schemas.openxmlformats.org/officeDocument/2006/relationships/notesSlide" Target="/ppt/notesSlides/notesSlide19.xml" Id="Rdf10a22804fb4c5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1e44d0eb3ed4d77" /><Relationship Type="http://schemas.openxmlformats.org/officeDocument/2006/relationships/notesSlide" Target="/ppt/notesSlides/notesSlide20.xml" Id="Rd0381b80ec40456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시간대 평균</c:v>
          </c:tx>
          <c:spPr>
            <a:ln xmlns:a="http://schemas.openxmlformats.org/drawingml/2006/main" w="28575">
              <a:solidFill>
                <a:srgbClr val="B9ED4C"/>
              </a:solidFill>
            </a:ln>
          </c:spPr>
          <c:marker>
            <c:symbol val="none"/>
          </c:marker>
          <c:cat>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65511.6</c:v>
                </c:pt>
                <c:pt idx="1">
                  <c:v>61623.93</c:v>
                </c:pt>
                <c:pt idx="2">
                  <c:v>59178.969</c:v>
                </c:pt>
                <c:pt idx="3">
                  <c:v>57687.98</c:v>
                </c:pt>
                <c:pt idx="4">
                  <c:v>56901.648</c:v>
                </c:pt>
                <c:pt idx="5">
                  <c:v>56998.809</c:v>
                </c:pt>
                <c:pt idx="6">
                  <c:v>58110.371</c:v>
                </c:pt>
                <c:pt idx="7">
                  <c:v>60551.934</c:v>
                </c:pt>
                <c:pt idx="8">
                  <c:v>63718.156</c:v>
                </c:pt>
                <c:pt idx="9">
                  <c:v>66780.734</c:v>
                </c:pt>
                <c:pt idx="10">
                  <c:v>67498.797</c:v>
                </c:pt>
                <c:pt idx="11">
                  <c:v>66970.738</c:v>
                </c:pt>
                <c:pt idx="12">
                  <c:v>65350.633</c:v>
                </c:pt>
                <c:pt idx="13">
                  <c:v>63262.573</c:v>
                </c:pt>
                <c:pt idx="14">
                  <c:v>65405.09</c:v>
                </c:pt>
                <c:pt idx="15">
                  <c:v>66817.435</c:v>
                </c:pt>
                <c:pt idx="16">
                  <c:v>68346.541</c:v>
                </c:pt>
                <c:pt idx="17">
                  <c:v>70736.757</c:v>
                </c:pt>
                <c:pt idx="18">
                  <c:v>72320.58</c:v>
                </c:pt>
                <c:pt idx="19">
                  <c:v>73578.259</c:v>
                </c:pt>
                <c:pt idx="20">
                  <c:v>73579.333</c:v>
                </c:pt>
                <c:pt idx="21">
                  <c:v>71831.635</c:v>
                </c:pt>
                <c:pt idx="22">
                  <c:v>69263.529</c:v>
                </c:pt>
                <c:pt idx="23">
                  <c:v>67670.467</c:v>
                </c:pt>
              </c:numCache>
            </c:numRef>
          </c:val>
          <c:smooth val="0"/>
        </c:ser>
        <c:dLbls>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ple SD Gothic Neo"/>
                    <a:ea typeface="Apple SD Gothic Neo"/>
                    <a:cs typeface="Apple SD Gothic Neo"/>
                  </a:rPr>
                  <a:t>시간</a:t>
                </a:r>
              </a:p>
            </c:rich>
          </c:tx>
          <c:overlay val="0"/>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title>
        <c:numFmt formatCode="General"/>
        <c:majorTickMark val="none"/>
        <c:minorTickMark val="none"/>
        <c:spPr>
          <a:ln xmlns:a="http://schemas.openxmlformats.org/drawingml/2006/main" w="9525">
            <a:solidFill>
              <a:srgbClr val="D0DAD5"/>
            </a:solidFill>
          </a:ln>
        </c:spPr>
        <c:txPr>
          <a:bodyPr xmlns:a="http://schemas.openxmlformats.org/drawingml/2006/main" anchorCtr="1"/>
          <a:lstStyle xmlns:a="http://schemas.openxmlformats.org/drawingml/2006/main"/>
          <a:p xmlns:a="http://schemas.openxmlformats.org/drawingml/2006/main">
            <a:pPr>
              <a:defRPr sz="1350">
                <a:solidFill>
                  <a:srgbClr val="F8FAF8"/>
                </a:solidFill>
                <a:latin typeface="Apple SD Gothic Neo"/>
                <a:ea typeface="Apple SD Gothic Neo"/>
                <a:cs typeface="Apple SD Gothic Neo"/>
              </a:defRPr>
            </a:pPr>
          </a:p>
        </c:txPr>
        <c:crossAx val="48672768"/>
      </c:catAx>
      <c:valAx>
        <c:axId val="48672768"/>
        <c:scaling>
          <c:orientation val="minMax"/>
          <c:min val="0"/>
        </c:scaling>
        <c:delete val="0"/>
        <c:axPos val="l"/>
        <c:majorGridlines>
          <c:spPr>
            <a:ln xmlns:a="http://schemas.openxmlformats.org/drawingml/2006/main" w="4763">
              <a:solidFill>
                <a:srgbClr val="30513E"/>
              </a:solidFill>
            </a:ln>
          </c:spPr>
        </c:majorGridlines>
        <c:title>
          <c:tx>
            <c:rich>
              <a:bodyPr xmlns:a="http://schemas.openxmlformats.org/drawingml/2006/main"/>
              <a:lstStyle xmlns:a="http://schemas.openxmlformats.org/drawingml/2006/main"/>
              <a:p xmlns:a="http://schemas.openxmlformats.org/drawingml/2006/main">
                <a:r>
                  <a:rPr>
                    <a:latin typeface="Apple SD Gothic Neo"/>
                    <a:ea typeface="Apple SD Gothic Neo"/>
                    <a:cs typeface="Apple SD Gothic Neo"/>
                  </a:rPr>
                  <a:t>평균 수요 (MWh)</a:t>
                </a:r>
              </a:p>
            </c:rich>
          </c:tx>
          <c:overlay val="0"/>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title>
        <c:numFmt formatCode="#,##0"/>
        <c:majorTickMark val="none"/>
        <c:minorTickMark val="none"/>
        <c:spPr>
          <a:ln xmlns:a="http://schemas.openxmlformats.org/drawingml/2006/main" w="9525">
            <a:solidFill>
              <a:srgbClr val="D0DAD5"/>
            </a:solidFill>
          </a:ln>
        </c:spPr>
        <c:txPr>
          <a:bodyPr xmlns:a="http://schemas.openxmlformats.org/drawingml/2006/main" anchorCtr="1"/>
          <a:lstStyle xmlns:a="http://schemas.openxmlformats.org/drawingml/2006/main"/>
          <a:p xmlns:a="http://schemas.openxmlformats.org/drawingml/2006/main">
            <a:pPr>
              <a:defRPr sz="1350">
                <a:solidFill>
                  <a:srgbClr val="F8FAF8"/>
                </a:solidFill>
                <a:latin typeface="Apple SD Gothic Neo"/>
                <a:ea typeface="Apple SD Gothic Neo"/>
                <a:cs typeface="Apple SD Gothic Neo"/>
              </a:defRPr>
            </a:pPr>
          </a:p>
        </c:txPr>
        <c:crossAx val="48650112"/>
        <c:crossBetween val="between"/>
      </c:valAx>
      <c:spPr>
        <a:solidFill xmlns:a="http://schemas.openxmlformats.org/drawingml/2006/main">
          <a:srgbClr val="002B1D"/>
        </a:solidFill>
      </c:spPr>
    </c:plotArea>
    <c:plotVisOnly val="1"/>
  </c:chart>
  <c:spPr>
    <a:solidFill xmlns:a="http://schemas.openxmlformats.org/drawingml/2006/main">
      <a:srgbClr val="002B1D"/>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요일 평균</c:v>
          </c:tx>
          <c:spPr>
            <a:solidFill xmlns:a="http://schemas.openxmlformats.org/drawingml/2006/main">
              <a:srgbClr val="B9ED4C"/>
            </a:solidFill>
          </c:spPr>
          <c:cat>
            <c:strRef>
              <c:f>'Chart Data'!$A$2:$A$8</c:f>
              <c:strCache>
                <c:ptCount val="7"/>
                <c:pt idx="0">
                  <c:v>월</c:v>
                </c:pt>
                <c:pt idx="1">
                  <c:v>화</c:v>
                </c:pt>
                <c:pt idx="2">
                  <c:v>수</c:v>
                </c:pt>
                <c:pt idx="3">
                  <c:v>목</c:v>
                </c:pt>
                <c:pt idx="4">
                  <c:v>금</c:v>
                </c:pt>
                <c:pt idx="5">
                  <c:v>토</c:v>
                </c:pt>
                <c:pt idx="6">
                  <c:v>일</c:v>
                </c:pt>
              </c:strCache>
            </c:strRef>
          </c:cat>
          <c:val>
            <c:numRef>
              <c:f>'Chart Data'!$B$2:$B$8</c:f>
              <c:numCache>
                <c:formatCode>#,##0</c:formatCode>
                <c:ptCount val="7"/>
                <c:pt idx="0">
                  <c:v>66307.8</c:v>
                </c:pt>
                <c:pt idx="1">
                  <c:v>68468.896</c:v>
                </c:pt>
                <c:pt idx="2">
                  <c:v>67982.059</c:v>
                </c:pt>
                <c:pt idx="3">
                  <c:v>68325.477</c:v>
                </c:pt>
                <c:pt idx="4">
                  <c:v>67668.896</c:v>
                </c:pt>
                <c:pt idx="5">
                  <c:v>61443.767</c:v>
                </c:pt>
                <c:pt idx="6">
                  <c:v>57427.825</c:v>
                </c:pt>
              </c:numCache>
            </c:numRef>
          </c:val>
        </c:ser>
        <c:dLbls>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AD5"/>
            </a:solidFill>
          </a:ln>
        </c:spPr>
        <c:txPr>
          <a:bodyPr xmlns:a="http://schemas.openxmlformats.org/drawingml/2006/main" anchorCtr="1"/>
          <a:lstStyle xmlns:a="http://schemas.openxmlformats.org/drawingml/2006/main"/>
          <a:p xmlns:a="http://schemas.openxmlformats.org/drawingml/2006/main">
            <a:pPr>
              <a:defRPr sz="1350">
                <a:solidFill>
                  <a:srgbClr val="F8FAF8"/>
                </a:solidFill>
                <a:latin typeface="Apple SD Gothic Neo"/>
                <a:ea typeface="Apple SD Gothic Neo"/>
                <a:cs typeface="Apple SD Gothic Neo"/>
              </a:defRPr>
            </a:pPr>
          </a:p>
        </c:txPr>
        <c:crossAx val="48672768"/>
      </c:catAx>
      <c:valAx>
        <c:axId val="48672768"/>
        <c:scaling>
          <c:orientation val="minMax"/>
          <c:min val="0"/>
        </c:scaling>
        <c:delete val="0"/>
        <c:axPos val="l"/>
        <c:majorGridlines>
          <c:spPr>
            <a:ln xmlns:a="http://schemas.openxmlformats.org/drawingml/2006/main" w="4763">
              <a:solidFill>
                <a:srgbClr val="30513E"/>
              </a:solidFill>
            </a:ln>
          </c:spPr>
        </c:majorGridlines>
        <c:title>
          <c:tx>
            <c:rich>
              <a:bodyPr xmlns:a="http://schemas.openxmlformats.org/drawingml/2006/main"/>
              <a:lstStyle xmlns:a="http://schemas.openxmlformats.org/drawingml/2006/main"/>
              <a:p xmlns:a="http://schemas.openxmlformats.org/drawingml/2006/main">
                <a:r>
                  <a:rPr>
                    <a:latin typeface="Apple SD Gothic Neo"/>
                    <a:ea typeface="Apple SD Gothic Neo"/>
                    <a:cs typeface="Apple SD Gothic Neo"/>
                  </a:rPr>
                  <a:t>평균 수요 (MWh)</a:t>
                </a:r>
              </a:p>
            </c:rich>
          </c:tx>
          <c:overlay val="0"/>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title>
        <c:numFmt formatCode="#,##0"/>
        <c:majorTickMark val="none"/>
        <c:minorTickMark val="none"/>
        <c:spPr>
          <a:ln xmlns:a="http://schemas.openxmlformats.org/drawingml/2006/main" w="9525">
            <a:solidFill>
              <a:srgbClr val="D0DAD5"/>
            </a:solidFill>
          </a:ln>
        </c:spPr>
        <c:txPr>
          <a:bodyPr xmlns:a="http://schemas.openxmlformats.org/drawingml/2006/main" anchorCtr="1"/>
          <a:lstStyle xmlns:a="http://schemas.openxmlformats.org/drawingml/2006/main"/>
          <a:p xmlns:a="http://schemas.openxmlformats.org/drawingml/2006/main">
            <a:pPr>
              <a:defRPr sz="1350">
                <a:solidFill>
                  <a:srgbClr val="F8FAF8"/>
                </a:solidFill>
                <a:latin typeface="Apple SD Gothic Neo"/>
                <a:ea typeface="Apple SD Gothic Neo"/>
                <a:cs typeface="Apple SD Gothic Neo"/>
              </a:defRPr>
            </a:pPr>
          </a:p>
        </c:txPr>
        <c:crossAx val="48650112"/>
        <c:crossBetween val="between"/>
      </c:valAx>
      <c:spPr>
        <a:solidFill xmlns:a="http://schemas.openxmlformats.org/drawingml/2006/main">
          <a:srgbClr val="002B1D"/>
        </a:solidFill>
      </c:spPr>
    </c:plotArea>
    <c:plotVisOnly val="1"/>
  </c:chart>
  <c:spPr>
    <a:solidFill xmlns:a="http://schemas.openxmlformats.org/drawingml/2006/main">
      <a:srgbClr val="002B1D"/>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실제</c:v>
          </c:tx>
          <c:spPr>
            <a:ln xmlns:a="http://schemas.openxmlformats.org/drawingml/2006/main" w="19050">
              <a:solidFill>
                <a:srgbClr val="F8FAF8"/>
              </a:solidFill>
            </a:ln>
          </c:spPr>
          <c:marker>
            <c:symbol val="none"/>
          </c:marker>
          <c:cat>
            <c:numRef>
              <c:f>'Chart Data'!$A$2:$A$73</c:f>
              <c:numCache>
                <c:formatCode>General</c:formatCode>
                <c:ptCount val="7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numCache>
            </c:numRef>
          </c:cat>
          <c:val>
            <c:numRef>
              <c:f>'Chart Data'!$B$2:$B$73</c:f>
              <c:numCache>
                <c:formatCode>#,##0</c:formatCode>
                <c:ptCount val="72"/>
                <c:pt idx="0">
                  <c:v>59756</c:v>
                </c:pt>
                <c:pt idx="1">
                  <c:v>63994</c:v>
                </c:pt>
                <c:pt idx="2">
                  <c:v>66349</c:v>
                </c:pt>
                <c:pt idx="3">
                  <c:v>64292</c:v>
                </c:pt>
                <c:pt idx="4">
                  <c:v>61143</c:v>
                </c:pt>
                <c:pt idx="5">
                  <c:v>57084</c:v>
                </c:pt>
                <c:pt idx="6">
                  <c:v>54071</c:v>
                </c:pt>
                <c:pt idx="7">
                  <c:v>57797</c:v>
                </c:pt>
                <c:pt idx="8">
                  <c:v>60256</c:v>
                </c:pt>
                <c:pt idx="9">
                  <c:v>63060</c:v>
                </c:pt>
                <c:pt idx="10">
                  <c:v>66437</c:v>
                </c:pt>
                <c:pt idx="11">
                  <c:v>67386</c:v>
                </c:pt>
                <c:pt idx="12">
                  <c:v>67814</c:v>
                </c:pt>
                <c:pt idx="13">
                  <c:v>66776</c:v>
                </c:pt>
                <c:pt idx="14">
                  <c:v>65202</c:v>
                </c:pt>
                <c:pt idx="15">
                  <c:v>63247</c:v>
                </c:pt>
                <c:pt idx="16">
                  <c:v>62644</c:v>
                </c:pt>
                <c:pt idx="17">
                  <c:v>61121</c:v>
                </c:pt>
                <c:pt idx="18">
                  <c:v>57325</c:v>
                </c:pt>
                <c:pt idx="19">
                  <c:v>54918</c:v>
                </c:pt>
                <c:pt idx="20">
                  <c:v>53385</c:v>
                </c:pt>
                <c:pt idx="21">
                  <c:v>52872</c:v>
                </c:pt>
                <c:pt idx="22">
                  <c:v>52913</c:v>
                </c:pt>
                <c:pt idx="23">
                  <c:v>53687</c:v>
                </c:pt>
                <c:pt idx="24">
                  <c:v>54922</c:v>
                </c:pt>
                <c:pt idx="25">
                  <c:v>55676</c:v>
                </c:pt>
                <c:pt idx="26">
                  <c:v>56244</c:v>
                </c:pt>
                <c:pt idx="27">
                  <c:v>56530</c:v>
                </c:pt>
                <c:pt idx="28">
                  <c:v>55611</c:v>
                </c:pt>
                <c:pt idx="29">
                  <c:v>54528</c:v>
                </c:pt>
                <c:pt idx="30">
                  <c:v>53866</c:v>
                </c:pt>
                <c:pt idx="31">
                  <c:v>54714</c:v>
                </c:pt>
                <c:pt idx="32">
                  <c:v>55286</c:v>
                </c:pt>
                <c:pt idx="33">
                  <c:v>56294</c:v>
                </c:pt>
                <c:pt idx="34">
                  <c:v>57100</c:v>
                </c:pt>
                <c:pt idx="35">
                  <c:v>58800</c:v>
                </c:pt>
                <c:pt idx="36">
                  <c:v>59993</c:v>
                </c:pt>
                <c:pt idx="37">
                  <c:v>59405</c:v>
                </c:pt>
                <c:pt idx="38">
                  <c:v>58564</c:v>
                </c:pt>
                <c:pt idx="39">
                  <c:v>57520</c:v>
                </c:pt>
                <c:pt idx="40">
                  <c:v>57389</c:v>
                </c:pt>
                <c:pt idx="41">
                  <c:v>56587</c:v>
                </c:pt>
                <c:pt idx="42">
                  <c:v>53451</c:v>
                </c:pt>
                <c:pt idx="43">
                  <c:v>51003</c:v>
                </c:pt>
                <c:pt idx="44">
                  <c:v>49641</c:v>
                </c:pt>
                <c:pt idx="45">
                  <c:v>49080</c:v>
                </c:pt>
                <c:pt idx="46">
                  <c:v>49141</c:v>
                </c:pt>
                <c:pt idx="47">
                  <c:v>49985</c:v>
                </c:pt>
                <c:pt idx="48">
                  <c:v>51345</c:v>
                </c:pt>
                <c:pt idx="49">
                  <c:v>51427</c:v>
                </c:pt>
                <c:pt idx="50">
                  <c:v>49861</c:v>
                </c:pt>
                <c:pt idx="51">
                  <c:v>46975</c:v>
                </c:pt>
                <c:pt idx="52">
                  <c:v>44613</c:v>
                </c:pt>
                <c:pt idx="53">
                  <c:v>42577</c:v>
                </c:pt>
                <c:pt idx="54">
                  <c:v>41748</c:v>
                </c:pt>
                <c:pt idx="55">
                  <c:v>42533</c:v>
                </c:pt>
                <c:pt idx="56">
                  <c:v>44901</c:v>
                </c:pt>
                <c:pt idx="57">
                  <c:v>48961</c:v>
                </c:pt>
                <c:pt idx="58">
                  <c:v>53811</c:v>
                </c:pt>
                <c:pt idx="59">
                  <c:v>57532</c:v>
                </c:pt>
                <c:pt idx="60">
                  <c:v>59258</c:v>
                </c:pt>
                <c:pt idx="61">
                  <c:v>59100</c:v>
                </c:pt>
                <c:pt idx="62">
                  <c:v>58523</c:v>
                </c:pt>
                <c:pt idx="63">
                  <c:v>57273</c:v>
                </c:pt>
                <c:pt idx="64">
                  <c:v>56349</c:v>
                </c:pt>
                <c:pt idx="65">
                  <c:v>55163</c:v>
                </c:pt>
                <c:pt idx="66">
                  <c:v>52222</c:v>
                </c:pt>
                <c:pt idx="67">
                  <c:v>50194</c:v>
                </c:pt>
                <c:pt idx="68">
                  <c:v>48889</c:v>
                </c:pt>
                <c:pt idx="69">
                  <c:v>48643</c:v>
                </c:pt>
                <c:pt idx="70">
                  <c:v>49353</c:v>
                </c:pt>
                <c:pt idx="71">
                  <c:v>51737</c:v>
                </c:pt>
              </c:numCache>
            </c:numRef>
          </c:val>
          <c:smooth val="0"/>
        </c:ser>
        <c:ser>
          <c:idx val="1"/>
          <c:order val="1"/>
          <c:tx>
            <c:v>SARIMA</c:v>
          </c:tx>
          <c:spPr>
            <a:ln xmlns:a="http://schemas.openxmlformats.org/drawingml/2006/main" w="14288">
              <a:solidFill>
                <a:srgbClr val="B9ED4C"/>
              </a:solidFill>
            </a:ln>
          </c:spPr>
          <c:marker>
            <c:symbol val="none"/>
          </c:marker>
          <c:cat>
            <c:numRef>
              <c:f>'Chart Data'!$C$2:$C$73</c:f>
              <c:numCache>
                <c:formatCode>General</c:formatCode>
                <c:ptCount val="7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numCache>
            </c:numRef>
          </c:cat>
          <c:val>
            <c:numRef>
              <c:f>'Chart Data'!$D$2:$D$73</c:f>
              <c:numCache>
                <c:formatCode>#,##0</c:formatCode>
                <c:ptCount val="72"/>
                <c:pt idx="0">
                  <c:v>59347.638</c:v>
                </c:pt>
                <c:pt idx="1">
                  <c:v>63488.518</c:v>
                </c:pt>
                <c:pt idx="2">
                  <c:v>65871.441</c:v>
                </c:pt>
                <c:pt idx="3">
                  <c:v>65518.515</c:v>
                </c:pt>
                <c:pt idx="4">
                  <c:v>61534.87</c:v>
                </c:pt>
                <c:pt idx="5">
                  <c:v>57445.106</c:v>
                </c:pt>
                <c:pt idx="6">
                  <c:v>53642.965</c:v>
                </c:pt>
                <c:pt idx="7">
                  <c:v>56956.394</c:v>
                </c:pt>
                <c:pt idx="8">
                  <c:v>61378.908</c:v>
                </c:pt>
                <c:pt idx="9">
                  <c:v>63228.863</c:v>
                </c:pt>
                <c:pt idx="10">
                  <c:v>66173.077</c:v>
                </c:pt>
                <c:pt idx="11">
                  <c:v>67944.808</c:v>
                </c:pt>
                <c:pt idx="12">
                  <c:v>67711.941</c:v>
                </c:pt>
                <c:pt idx="13">
                  <c:v>66604.149</c:v>
                </c:pt>
                <c:pt idx="14">
                  <c:v>65187.199</c:v>
                </c:pt>
                <c:pt idx="15">
                  <c:v>63544.305</c:v>
                </c:pt>
                <c:pt idx="16">
                  <c:v>62161.522</c:v>
                </c:pt>
                <c:pt idx="17">
                  <c:v>61147.243</c:v>
                </c:pt>
                <c:pt idx="18">
                  <c:v>57774.581</c:v>
                </c:pt>
                <c:pt idx="19">
                  <c:v>54878.727</c:v>
                </c:pt>
                <c:pt idx="20">
                  <c:v>53434.186</c:v>
                </c:pt>
                <c:pt idx="21">
                  <c:v>52667.136</c:v>
                </c:pt>
                <c:pt idx="22">
                  <c:v>53309.692</c:v>
                </c:pt>
                <c:pt idx="23">
                  <c:v>54268.931</c:v>
                </c:pt>
                <c:pt idx="24">
                  <c:v>55926.433</c:v>
                </c:pt>
                <c:pt idx="25">
                  <c:v>56779.552</c:v>
                </c:pt>
                <c:pt idx="26">
                  <c:v>54967.949</c:v>
                </c:pt>
                <c:pt idx="27">
                  <c:v>54598.111</c:v>
                </c:pt>
                <c:pt idx="28">
                  <c:v>56798.961</c:v>
                </c:pt>
                <c:pt idx="29">
                  <c:v>53908.6</c:v>
                </c:pt>
                <c:pt idx="30">
                  <c:v>52732.452</c:v>
                </c:pt>
                <c:pt idx="31">
                  <c:v>58003.298</c:v>
                </c:pt>
                <c:pt idx="32">
                  <c:v>54866.402</c:v>
                </c:pt>
                <c:pt idx="33">
                  <c:v>56451.575</c:v>
                </c:pt>
                <c:pt idx="34">
                  <c:v>58917.26</c:v>
                </c:pt>
                <c:pt idx="35">
                  <c:v>57001.982</c:v>
                </c:pt>
                <c:pt idx="36">
                  <c:v>60255.66</c:v>
                </c:pt>
                <c:pt idx="37">
                  <c:v>59876.164</c:v>
                </c:pt>
                <c:pt idx="38">
                  <c:v>57866.145</c:v>
                </c:pt>
                <c:pt idx="39">
                  <c:v>57164.702</c:v>
                </c:pt>
                <c:pt idx="40">
                  <c:v>57187.29</c:v>
                </c:pt>
                <c:pt idx="41">
                  <c:v>56137.934</c:v>
                </c:pt>
                <c:pt idx="42">
                  <c:v>53589.824</c:v>
                </c:pt>
                <c:pt idx="43">
                  <c:v>51440.916</c:v>
                </c:pt>
                <c:pt idx="44">
                  <c:v>49293.274</c:v>
                </c:pt>
                <c:pt idx="45">
                  <c:v>48968.446</c:v>
                </c:pt>
                <c:pt idx="46">
                  <c:v>49468.163</c:v>
                </c:pt>
                <c:pt idx="47">
                  <c:v>50453.432</c:v>
                </c:pt>
                <c:pt idx="48">
                  <c:v>52180.766</c:v>
                </c:pt>
                <c:pt idx="49">
                  <c:v>53186.802</c:v>
                </c:pt>
                <c:pt idx="50">
                  <c:v>50221.126</c:v>
                </c:pt>
                <c:pt idx="51">
                  <c:v>46544.222</c:v>
                </c:pt>
                <c:pt idx="52">
                  <c:v>44667.813</c:v>
                </c:pt>
                <c:pt idx="53">
                  <c:v>42540.363</c:v>
                </c:pt>
                <c:pt idx="54">
                  <c:v>40930.541</c:v>
                </c:pt>
                <c:pt idx="55">
                  <c:v>45667.129</c:v>
                </c:pt>
                <c:pt idx="56">
                  <c:v>42702.72</c:v>
                </c:pt>
                <c:pt idx="57">
                  <c:v>47628.176</c:v>
                </c:pt>
                <c:pt idx="58">
                  <c:v>53954.315</c:v>
                </c:pt>
                <c:pt idx="59">
                  <c:v>56771.575</c:v>
                </c:pt>
                <c:pt idx="60">
                  <c:v>59610.942</c:v>
                </c:pt>
                <c:pt idx="61">
                  <c:v>58493.416</c:v>
                </c:pt>
                <c:pt idx="62">
                  <c:v>57706.604</c:v>
                </c:pt>
                <c:pt idx="63">
                  <c:v>57498.64</c:v>
                </c:pt>
                <c:pt idx="64">
                  <c:v>56738.29</c:v>
                </c:pt>
                <c:pt idx="65">
                  <c:v>54361.414</c:v>
                </c:pt>
                <c:pt idx="66">
                  <c:v>51945.234</c:v>
                </c:pt>
                <c:pt idx="67">
                  <c:v>50604.37</c:v>
                </c:pt>
                <c:pt idx="68">
                  <c:v>48955.02</c:v>
                </c:pt>
                <c:pt idx="69">
                  <c:v>48121.959</c:v>
                </c:pt>
                <c:pt idx="70">
                  <c:v>49141.1</c:v>
                </c:pt>
                <c:pt idx="71">
                  <c:v>51184.38</c:v>
                </c:pt>
              </c:numCache>
            </c:numRef>
          </c:val>
          <c:smooth val="0"/>
        </c:ser>
        <c:ser>
          <c:idx val="2"/>
          <c:order val="2"/>
          <c:tx>
            <c:v>LSTM + 날씨</c:v>
          </c:tx>
          <c:spPr>
            <a:ln xmlns:a="http://schemas.openxmlformats.org/drawingml/2006/main" w="14288">
              <a:solidFill>
                <a:srgbClr val="E99E62"/>
              </a:solidFill>
            </a:ln>
          </c:spPr>
          <c:marker>
            <c:symbol val="none"/>
          </c:marker>
          <c:cat>
            <c:numRef>
              <c:f>'Chart Data'!$E$2:$E$73</c:f>
              <c:numCache>
                <c:formatCode>General</c:formatCode>
                <c:ptCount val="7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numCache>
            </c:numRef>
          </c:cat>
          <c:val>
            <c:numRef>
              <c:f>'Chart Data'!$F$2:$F$73</c:f>
              <c:numCache>
                <c:formatCode>#,##0</c:formatCode>
                <c:ptCount val="72"/>
                <c:pt idx="0">
                  <c:v>59352.754</c:v>
                </c:pt>
                <c:pt idx="1">
                  <c:v>64320.516</c:v>
                </c:pt>
                <c:pt idx="2">
                  <c:v>67267.335</c:v>
                </c:pt>
                <c:pt idx="3">
                  <c:v>65699.024</c:v>
                </c:pt>
                <c:pt idx="4">
                  <c:v>61829.275</c:v>
                </c:pt>
                <c:pt idx="5">
                  <c:v>58736.398</c:v>
                </c:pt>
                <c:pt idx="6">
                  <c:v>57139.024</c:v>
                </c:pt>
                <c:pt idx="7">
                  <c:v>56273.296</c:v>
                </c:pt>
                <c:pt idx="8">
                  <c:v>60343.486</c:v>
                </c:pt>
                <c:pt idx="9">
                  <c:v>63272.403</c:v>
                </c:pt>
                <c:pt idx="10">
                  <c:v>66281.758</c:v>
                </c:pt>
                <c:pt idx="11">
                  <c:v>69114.15</c:v>
                </c:pt>
                <c:pt idx="12">
                  <c:v>68250.821</c:v>
                </c:pt>
                <c:pt idx="13">
                  <c:v>66271.058</c:v>
                </c:pt>
                <c:pt idx="14">
                  <c:v>65756.185</c:v>
                </c:pt>
                <c:pt idx="15">
                  <c:v>64735.445</c:v>
                </c:pt>
                <c:pt idx="16">
                  <c:v>62352.179</c:v>
                </c:pt>
                <c:pt idx="17">
                  <c:v>60536.079</c:v>
                </c:pt>
                <c:pt idx="18">
                  <c:v>58154.388</c:v>
                </c:pt>
                <c:pt idx="19">
                  <c:v>54836.037</c:v>
                </c:pt>
                <c:pt idx="20">
                  <c:v>53224.835</c:v>
                </c:pt>
                <c:pt idx="21">
                  <c:v>52487.949</c:v>
                </c:pt>
                <c:pt idx="22">
                  <c:v>52756.308</c:v>
                </c:pt>
                <c:pt idx="23">
                  <c:v>53614.553</c:v>
                </c:pt>
                <c:pt idx="24">
                  <c:v>55039.235</c:v>
                </c:pt>
                <c:pt idx="25">
                  <c:v>55721.554</c:v>
                </c:pt>
                <c:pt idx="26">
                  <c:v>55692.245</c:v>
                </c:pt>
                <c:pt idx="27">
                  <c:v>55631.561</c:v>
                </c:pt>
                <c:pt idx="28">
                  <c:v>56124.773</c:v>
                </c:pt>
                <c:pt idx="29">
                  <c:v>55607.217</c:v>
                </c:pt>
                <c:pt idx="30">
                  <c:v>54637.827</c:v>
                </c:pt>
                <c:pt idx="31">
                  <c:v>54161.323</c:v>
                </c:pt>
                <c:pt idx="32">
                  <c:v>55847.052</c:v>
                </c:pt>
                <c:pt idx="33">
                  <c:v>56978.921</c:v>
                </c:pt>
                <c:pt idx="34">
                  <c:v>58634.756</c:v>
                </c:pt>
                <c:pt idx="35">
                  <c:v>59262.178</c:v>
                </c:pt>
                <c:pt idx="36">
                  <c:v>59120.345</c:v>
                </c:pt>
                <c:pt idx="37">
                  <c:v>59703.15</c:v>
                </c:pt>
                <c:pt idx="38">
                  <c:v>59095.947</c:v>
                </c:pt>
                <c:pt idx="39">
                  <c:v>56643.84</c:v>
                </c:pt>
                <c:pt idx="40">
                  <c:v>56745.459</c:v>
                </c:pt>
                <c:pt idx="41">
                  <c:v>56348.368</c:v>
                </c:pt>
                <c:pt idx="42">
                  <c:v>53485.78</c:v>
                </c:pt>
                <c:pt idx="43">
                  <c:v>51271.982</c:v>
                </c:pt>
                <c:pt idx="44">
                  <c:v>49101.277</c:v>
                </c:pt>
                <c:pt idx="45">
                  <c:v>47742.301</c:v>
                </c:pt>
                <c:pt idx="46">
                  <c:v>48634.433</c:v>
                </c:pt>
                <c:pt idx="47">
                  <c:v>49599</c:v>
                </c:pt>
                <c:pt idx="48">
                  <c:v>51087.298</c:v>
                </c:pt>
                <c:pt idx="49">
                  <c:v>52577.161</c:v>
                </c:pt>
                <c:pt idx="50">
                  <c:v>51671.748</c:v>
                </c:pt>
                <c:pt idx="51">
                  <c:v>47838.415</c:v>
                </c:pt>
                <c:pt idx="52">
                  <c:v>44982.488</c:v>
                </c:pt>
                <c:pt idx="53">
                  <c:v>43732.587</c:v>
                </c:pt>
                <c:pt idx="54">
                  <c:v>42861.828</c:v>
                </c:pt>
                <c:pt idx="55">
                  <c:v>43338.626</c:v>
                </c:pt>
                <c:pt idx="56">
                  <c:v>45695.312</c:v>
                </c:pt>
                <c:pt idx="57">
                  <c:v>49280.647</c:v>
                </c:pt>
                <c:pt idx="58">
                  <c:v>54123.324</c:v>
                </c:pt>
                <c:pt idx="59">
                  <c:v>58597.99</c:v>
                </c:pt>
                <c:pt idx="60">
                  <c:v>60867.524</c:v>
                </c:pt>
                <c:pt idx="61">
                  <c:v>59182.205</c:v>
                </c:pt>
                <c:pt idx="62">
                  <c:v>58603.709</c:v>
                </c:pt>
                <c:pt idx="63">
                  <c:v>58211.488</c:v>
                </c:pt>
                <c:pt idx="64">
                  <c:v>56687.289</c:v>
                </c:pt>
                <c:pt idx="65">
                  <c:v>54970.987</c:v>
                </c:pt>
                <c:pt idx="66">
                  <c:v>52864.345</c:v>
                </c:pt>
                <c:pt idx="67">
                  <c:v>50154.901</c:v>
                </c:pt>
                <c:pt idx="68">
                  <c:v>48852.661</c:v>
                </c:pt>
                <c:pt idx="69">
                  <c:v>48486.615</c:v>
                </c:pt>
                <c:pt idx="70">
                  <c:v>49208.307</c:v>
                </c:pt>
                <c:pt idx="71">
                  <c:v>50769.759</c:v>
                </c:pt>
              </c:numCache>
            </c:numRef>
          </c:val>
          <c:smooth val="0"/>
        </c:ser>
        <c:ser>
          <c:idx val="3"/>
          <c:order val="3"/>
          <c:tx>
            <c:v>Transformer + 날씨</c:v>
          </c:tx>
          <c:spPr>
            <a:ln xmlns:a="http://schemas.openxmlformats.org/drawingml/2006/main" w="14288">
              <a:solidFill>
                <a:srgbClr val="B69AD8"/>
              </a:solidFill>
            </a:ln>
          </c:spPr>
          <c:marker>
            <c:symbol val="none"/>
          </c:marker>
          <c:cat>
            <c:numRef>
              <c:f>'Chart Data'!$G$2:$G$73</c:f>
              <c:numCache>
                <c:formatCode>General</c:formatCode>
                <c:ptCount val="7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numCache>
            </c:numRef>
          </c:cat>
          <c:val>
            <c:numRef>
              <c:f>'Chart Data'!$H$2:$H$73</c:f>
              <c:numCache>
                <c:formatCode>#,##0</c:formatCode>
                <c:ptCount val="72"/>
                <c:pt idx="0">
                  <c:v>58168.341</c:v>
                </c:pt>
                <c:pt idx="1">
                  <c:v>62305.544</c:v>
                </c:pt>
                <c:pt idx="2">
                  <c:v>67678.505</c:v>
                </c:pt>
                <c:pt idx="3">
                  <c:v>66215.262</c:v>
                </c:pt>
                <c:pt idx="4">
                  <c:v>62136.406</c:v>
                </c:pt>
                <c:pt idx="5">
                  <c:v>58894.624</c:v>
                </c:pt>
                <c:pt idx="6">
                  <c:v>56279.725</c:v>
                </c:pt>
                <c:pt idx="7">
                  <c:v>55885.96</c:v>
                </c:pt>
                <c:pt idx="8">
                  <c:v>60756.293</c:v>
                </c:pt>
                <c:pt idx="9">
                  <c:v>63500.756</c:v>
                </c:pt>
                <c:pt idx="10">
                  <c:v>65961.885</c:v>
                </c:pt>
                <c:pt idx="11">
                  <c:v>68778.095</c:v>
                </c:pt>
                <c:pt idx="12">
                  <c:v>68140.459</c:v>
                </c:pt>
                <c:pt idx="13">
                  <c:v>65951.135</c:v>
                </c:pt>
                <c:pt idx="14">
                  <c:v>64889.109</c:v>
                </c:pt>
                <c:pt idx="15">
                  <c:v>63468.353</c:v>
                </c:pt>
                <c:pt idx="16">
                  <c:v>62165.176</c:v>
                </c:pt>
                <c:pt idx="17">
                  <c:v>61971.155</c:v>
                </c:pt>
                <c:pt idx="18">
                  <c:v>58716.775</c:v>
                </c:pt>
                <c:pt idx="19">
                  <c:v>55322.902</c:v>
                </c:pt>
                <c:pt idx="20">
                  <c:v>53652.883</c:v>
                </c:pt>
                <c:pt idx="21">
                  <c:v>52255.596</c:v>
                </c:pt>
                <c:pt idx="22">
                  <c:v>52136.817</c:v>
                </c:pt>
                <c:pt idx="23">
                  <c:v>52257.683</c:v>
                </c:pt>
                <c:pt idx="24">
                  <c:v>53472.993</c:v>
                </c:pt>
                <c:pt idx="25">
                  <c:v>54483.264</c:v>
                </c:pt>
                <c:pt idx="26">
                  <c:v>55286.136</c:v>
                </c:pt>
                <c:pt idx="27">
                  <c:v>55735.091</c:v>
                </c:pt>
                <c:pt idx="28">
                  <c:v>55778.073</c:v>
                </c:pt>
                <c:pt idx="29">
                  <c:v>54669.368</c:v>
                </c:pt>
                <c:pt idx="30">
                  <c:v>53783.176</c:v>
                </c:pt>
                <c:pt idx="31">
                  <c:v>53800.888</c:v>
                </c:pt>
                <c:pt idx="32">
                  <c:v>55446.44</c:v>
                </c:pt>
                <c:pt idx="33">
                  <c:v>56252.284</c:v>
                </c:pt>
                <c:pt idx="34">
                  <c:v>57851.086</c:v>
                </c:pt>
                <c:pt idx="35">
                  <c:v>58656.37</c:v>
                </c:pt>
                <c:pt idx="36">
                  <c:v>59514.78</c:v>
                </c:pt>
                <c:pt idx="37">
                  <c:v>59098.651</c:v>
                </c:pt>
                <c:pt idx="38">
                  <c:v>58495.9</c:v>
                </c:pt>
                <c:pt idx="39">
                  <c:v>57990.166</c:v>
                </c:pt>
                <c:pt idx="40">
                  <c:v>57047.645</c:v>
                </c:pt>
                <c:pt idx="41">
                  <c:v>56693.196</c:v>
                </c:pt>
                <c:pt idx="42">
                  <c:v>53874.006</c:v>
                </c:pt>
                <c:pt idx="43">
                  <c:v>51553.574</c:v>
                </c:pt>
                <c:pt idx="44">
                  <c:v>49826.332</c:v>
                </c:pt>
                <c:pt idx="45">
                  <c:v>48076.084</c:v>
                </c:pt>
                <c:pt idx="46">
                  <c:v>48243.312</c:v>
                </c:pt>
                <c:pt idx="47">
                  <c:v>48786.909</c:v>
                </c:pt>
                <c:pt idx="48">
                  <c:v>49672.484</c:v>
                </c:pt>
                <c:pt idx="49">
                  <c:v>50784.211</c:v>
                </c:pt>
                <c:pt idx="50">
                  <c:v>50641.463</c:v>
                </c:pt>
                <c:pt idx="51">
                  <c:v>47881.23</c:v>
                </c:pt>
                <c:pt idx="52">
                  <c:v>45586.43</c:v>
                </c:pt>
                <c:pt idx="53">
                  <c:v>43792.018</c:v>
                </c:pt>
                <c:pt idx="54">
                  <c:v>42722.682</c:v>
                </c:pt>
                <c:pt idx="55">
                  <c:v>42795.663</c:v>
                </c:pt>
                <c:pt idx="56">
                  <c:v>44536.157</c:v>
                </c:pt>
                <c:pt idx="57">
                  <c:v>47417.894</c:v>
                </c:pt>
                <c:pt idx="58">
                  <c:v>52208.175</c:v>
                </c:pt>
                <c:pt idx="59">
                  <c:v>57176.036</c:v>
                </c:pt>
                <c:pt idx="60">
                  <c:v>59173.978</c:v>
                </c:pt>
                <c:pt idx="61">
                  <c:v>58604.924</c:v>
                </c:pt>
                <c:pt idx="62">
                  <c:v>58106.183</c:v>
                </c:pt>
                <c:pt idx="63">
                  <c:v>57991.253</c:v>
                </c:pt>
                <c:pt idx="64">
                  <c:v>57382.358</c:v>
                </c:pt>
                <c:pt idx="65">
                  <c:v>55407.155</c:v>
                </c:pt>
                <c:pt idx="66">
                  <c:v>53330.419</c:v>
                </c:pt>
                <c:pt idx="67">
                  <c:v>50556.062</c:v>
                </c:pt>
                <c:pt idx="68">
                  <c:v>49274.552</c:v>
                </c:pt>
                <c:pt idx="69">
                  <c:v>48807.963</c:v>
                </c:pt>
                <c:pt idx="70">
                  <c:v>49452.239</c:v>
                </c:pt>
                <c:pt idx="71">
                  <c:v>50663.853</c:v>
                </c:pt>
              </c:numCache>
            </c:numRef>
          </c:val>
          <c:smooth val="0"/>
        </c:ser>
        <c:dLbls>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ple SD Gothic Neo"/>
                    <a:ea typeface="Apple SD Gothic Neo"/>
                    <a:cs typeface="Apple SD Gothic Neo"/>
                  </a:rPr>
                  <a:t>테스트 시작 이후 시간</a:t>
                </a:r>
              </a:p>
            </c:rich>
          </c:tx>
          <c:overlay val="0"/>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title>
        <c:numFmt formatCode="General"/>
        <c:majorTickMark val="none"/>
        <c:minorTickMark val="none"/>
        <c:spPr>
          <a:ln xmlns:a="http://schemas.openxmlformats.org/drawingml/2006/main" w="9525">
            <a:solidFill>
              <a:srgbClr val="D0DAD5"/>
            </a:solidFill>
          </a:ln>
        </c:spPr>
        <c:txPr>
          <a:bodyPr xmlns:a="http://schemas.openxmlformats.org/drawingml/2006/main" anchorCtr="1"/>
          <a:lstStyle xmlns:a="http://schemas.openxmlformats.org/drawingml/2006/main"/>
          <a:p xmlns:a="http://schemas.openxmlformats.org/drawingml/2006/main">
            <a:pPr>
              <a:defRPr sz="1350">
                <a:solidFill>
                  <a:srgbClr val="F8FAF8"/>
                </a:solidFill>
                <a:latin typeface="Apple SD Gothic Neo"/>
                <a:ea typeface="Apple SD Gothic Neo"/>
                <a:cs typeface="Apple SD Gothic Neo"/>
              </a:defRPr>
            </a:pPr>
          </a:p>
        </c:txPr>
        <c:crossAx val="48672768"/>
      </c:catAx>
      <c:valAx>
        <c:axId val="48672768"/>
        <c:scaling>
          <c:orientation val="minMax"/>
          <c:min val="0"/>
        </c:scaling>
        <c:delete val="0"/>
        <c:axPos val="l"/>
        <c:majorGridlines>
          <c:spPr>
            <a:ln xmlns:a="http://schemas.openxmlformats.org/drawingml/2006/main" w="4763">
              <a:solidFill>
                <a:srgbClr val="30513E"/>
              </a:solidFill>
            </a:ln>
          </c:spPr>
        </c:majorGridlines>
        <c:title>
          <c:tx>
            <c:rich>
              <a:bodyPr xmlns:a="http://schemas.openxmlformats.org/drawingml/2006/main"/>
              <a:lstStyle xmlns:a="http://schemas.openxmlformats.org/drawingml/2006/main"/>
              <a:p xmlns:a="http://schemas.openxmlformats.org/drawingml/2006/main">
                <a:r>
                  <a:rPr>
                    <a:latin typeface="Apple SD Gothic Neo"/>
                    <a:ea typeface="Apple SD Gothic Neo"/>
                    <a:cs typeface="Apple SD Gothic Neo"/>
                  </a:rPr>
                  <a:t>수요 (MWh)</a:t>
                </a:r>
              </a:p>
            </c:rich>
          </c:tx>
          <c:overlay val="0"/>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title>
        <c:numFmt formatCode="#,##0"/>
        <c:majorTickMark val="none"/>
        <c:minorTickMark val="none"/>
        <c:spPr>
          <a:ln xmlns:a="http://schemas.openxmlformats.org/drawingml/2006/main" w="9525">
            <a:solidFill>
              <a:srgbClr val="D0DAD5"/>
            </a:solidFill>
          </a:ln>
        </c:spPr>
        <c:txPr>
          <a:bodyPr xmlns:a="http://schemas.openxmlformats.org/drawingml/2006/main" anchorCtr="1"/>
          <a:lstStyle xmlns:a="http://schemas.openxmlformats.org/drawingml/2006/main"/>
          <a:p xmlns:a="http://schemas.openxmlformats.org/drawingml/2006/main">
            <a:pPr>
              <a:defRPr sz="1350">
                <a:solidFill>
                  <a:srgbClr val="F8FAF8"/>
                </a:solidFill>
                <a:latin typeface="Apple SD Gothic Neo"/>
                <a:ea typeface="Apple SD Gothic Neo"/>
                <a:cs typeface="Apple SD Gothic Neo"/>
              </a:defRPr>
            </a:pPr>
          </a:p>
        </c:txPr>
        <c:crossAx val="48650112"/>
        <c:crossBetween val="between"/>
      </c:valAx>
      <c:spPr>
        <a:solidFill xmlns:a="http://schemas.openxmlformats.org/drawingml/2006/main">
          <a:srgbClr val="002B1D"/>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F8FAF8"/>
              </a:solidFill>
              <a:latin typeface="Apple SD Gothic Neo"/>
              <a:ea typeface="Apple SD Gothic Neo"/>
              <a:cs typeface="Apple SD Gothic Neo"/>
            </a:defRPr>
          </a:pPr>
        </a:p>
      </c:txPr>
    </c:legend>
    <c:plotVisOnly val="1"/>
  </c:chart>
  <c:spPr>
    <a:solidFill xmlns:a="http://schemas.openxmlformats.org/drawingml/2006/main">
      <a:srgbClr val="002B1D"/>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latin typeface="Apple SD Gothic Neo"/>
                <a:ea typeface="Apple SD Gothic Neo"/>
                <a:cs typeface="Apple SD Gothic Neo"/>
              </a:rPr>
              <a:t>전력수요</a:t>
            </a:r>
          </a:p>
          <a:p xmlns:a="http://schemas.openxmlformats.org/drawingml/2006/main">
            <a:pPr algn="ctr">
              <a:buNone/>
            </a:pPr>
            <a:r>
              <a:rPr sz="7200">
                <a:solidFill>
                  <a:srgbClr val="BCEF59"/>
                </a:solidFill>
                <a:latin typeface="Apple SD Gothic Neo"/>
                <a:ea typeface="Apple SD Gothic Neo"/>
                <a:cs typeface="Apple SD Gothic Neo"/>
              </a:rPr>
              <a:t>1시간 앞 예측</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200">
                <a:latin typeface="Apple SD Gothic Neo"/>
                <a:ea typeface="Apple SD Gothic Neo"/>
                <a:cs typeface="Apple SD Gothic Neo"/>
              </a:rPr>
              <a:t>7개 지역 기상정보와 딥러닝 모델 비교</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b="1">
                <a:solidFill>
                  <a:schemeClr val="tx1"/>
                </a:solidFill>
                <a:latin typeface="Apple SD Gothic Neo"/>
                <a:ea typeface="Apple SD Gothic Neo"/>
                <a:cs typeface="Apple SD Gothic Neo"/>
              </a:rPr>
              <a:t>DL Final Project · 2026.09.22</a:t>
            </a:r>
          </a:p>
        </p:txBody>
      </p:sp>
    </p:spTree>
    <p:extLst>
      <p:ext uri="{BB962C8B-B14F-4D97-AF65-F5344CB8AC3E}">
        <p14:creationId xmlns:p14="http://schemas.microsoft.com/office/powerpoint/2010/main" val="35077371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2</a:t>
            </a: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4229100" cy="519595"/>
          </a:xfrm>
        </p:spPr>
        <p:txBody>
          <a:bodyPr xmlns:a="http://schemas.openxmlformats.org/drawingml/2006/main"/>
          <a:lstStyle xmlns:a="http://schemas.openxmlformats.org/drawingml/2006/main"/>
          <a:p xmlns:a="http://schemas.openxmlformats.org/drawingml/2006/main">
            <a:pPr>
              <a:buNone/>
            </a:pPr>
            <a:r>
              <a:rPr>
                <a:solidFill>
                  <a:srgbClr val="BCEF59"/>
                </a:solidFill>
                <a:latin typeface="Apple SD Gothic Neo"/>
                <a:ea typeface="Apple SD Gothic Neo"/>
                <a:cs typeface="Apple SD Gothic Neo"/>
              </a:rPr>
              <a:t>발표 구성</a:t>
            </a:r>
          </a:p>
        </p:txBody>
      </p:sp>
      <p:graphicFrame>
        <p:nvGraphicFramePr>
          <p:cNvPr id="10" name=""/>
          <p:cNvGraphicFramePr/>
          <p:nvPr/>
        </p:nvGraphicFramePr>
        <p:xfrm>
          <a:off xmlns:a="http://schemas.openxmlformats.org/drawingml/2006/main" x="400050" y="1571625"/>
          <a:ext xmlns:a="http://schemas.openxmlformats.org/drawingml/2006/main" cx="11391900" cy="4191000"/>
        </p:xfrm>
        <a:graphic xmlns:a="http://schemas.openxmlformats.org/drawingml/2006/main">
          <a:graphicData uri="http://schemas.openxmlformats.org/drawingml/2006/table">
            <a:tbl>
              <a:tblPr/>
              <a:tblGrid>
                <a:gridCol w="9239250"/>
                <a:gridCol w="2152650"/>
              </a:tblGrid>
              <a:tr h="598714">
                <a:tc>
                  <a:txBody>
                    <a:bodyPr/>
                    <a:lstStyle/>
                    <a:p>
                      <a:r>
                        <a:rPr sz="1875" b="1">
                          <a:solidFill>
                            <a:srgbClr val="B9ED4C"/>
                          </a:solidFill>
                          <a:latin typeface="Apple SD Gothic Neo"/>
                          <a:ea typeface="Apple SD Gothic Neo"/>
                          <a:cs typeface="Apple SD Gothic Neo"/>
                        </a:rPr>
                        <a:t>발표 내용</a:t>
                      </a:r>
                    </a:p>
                  </a:txBody>
                  <a:tcPr marL="91440" marR="91440" marT="45720" marB="45720">
                    <a:solidFill>
                      <a:srgbClr val="264B3A"/>
                    </a:solidFill>
                  </a:tcPr>
                </a:tc>
                <a:tc>
                  <a:txBody>
                    <a:bodyPr/>
                    <a:lstStyle/>
                    <a:p>
                      <a:r>
                        <a:rPr sz="1875" b="1">
                          <a:solidFill>
                            <a:srgbClr val="B9ED4C"/>
                          </a:solidFill>
                          <a:latin typeface="Apple SD Gothic Neo"/>
                          <a:ea typeface="Apple SD Gothic Neo"/>
                          <a:cs typeface="Apple SD Gothic Neo"/>
                        </a:rPr>
                        <a:t>시간</a:t>
                      </a:r>
                    </a:p>
                  </a:txBody>
                  <a:tcPr marL="91440" marR="91440" marT="45720" marB="45720">
                    <a:solidFill>
                      <a:srgbClr val="264B3A"/>
                    </a:solidFill>
                  </a:tcPr>
                </a:tc>
              </a:tr>
              <a:tr h="598714">
                <a:tc>
                  <a:txBody>
                    <a:bodyPr/>
                    <a:lstStyle/>
                    <a:p>
                      <a:r>
                        <a:rPr sz="1875" b="0">
                          <a:solidFill>
                            <a:srgbClr val="F8FAF8"/>
                          </a:solidFill>
                          <a:latin typeface="Apple SD Gothic Neo"/>
                          <a:ea typeface="Apple SD Gothic Neo"/>
                          <a:cs typeface="Apple SD Gothic Neo"/>
                        </a:rPr>
                        <a:t>문제와 데이터</a:t>
                      </a:r>
                    </a:p>
                  </a:txBody>
                  <a:tcPr marL="91440" marR="91440" marT="45720" marB="45720">
                    <a:solidFill>
                      <a:srgbClr val="073322"/>
                    </a:solidFill>
                  </a:tcPr>
                </a:tc>
                <a:tc>
                  <a:txBody>
                    <a:bodyPr/>
                    <a:lstStyle/>
                    <a:p>
                      <a:r>
                        <a:rPr sz="1875" b="0">
                          <a:solidFill>
                            <a:srgbClr val="F8FAF8"/>
                          </a:solidFill>
                          <a:latin typeface="Apple SD Gothic Neo"/>
                          <a:ea typeface="Apple SD Gothic Neo"/>
                          <a:cs typeface="Apple SD Gothic Neo"/>
                        </a:rPr>
                        <a:t>3분</a:t>
                      </a:r>
                    </a:p>
                  </a:txBody>
                  <a:tcPr marL="91440" marR="91440" marT="45720" marB="45720">
                    <a:solidFill>
                      <a:srgbClr val="073322"/>
                    </a:solidFill>
                  </a:tcPr>
                </a:tc>
              </a:tr>
              <a:tr h="598714">
                <a:tc>
                  <a:txBody>
                    <a:bodyPr/>
                    <a:lstStyle/>
                    <a:p>
                      <a:r>
                        <a:rPr sz="1875" b="0">
                          <a:solidFill>
                            <a:srgbClr val="F8FAF8"/>
                          </a:solidFill>
                          <a:latin typeface="Apple SD Gothic Neo"/>
                          <a:ea typeface="Apple SD Gothic Neo"/>
                          <a:cs typeface="Apple SD Gothic Neo"/>
                        </a:rPr>
                        <a:t>EDA와 전처리</a:t>
                      </a:r>
                    </a:p>
                  </a:txBody>
                  <a:tcPr marL="91440" marR="91440" marT="45720" marB="45720">
                    <a:solidFill>
                      <a:srgbClr val="123D2C"/>
                    </a:solidFill>
                  </a:tcPr>
                </a:tc>
                <a:tc>
                  <a:txBody>
                    <a:bodyPr/>
                    <a:lstStyle/>
                    <a:p>
                      <a:r>
                        <a:rPr sz="1875" b="0">
                          <a:solidFill>
                            <a:srgbClr val="F8FAF8"/>
                          </a:solidFill>
                          <a:latin typeface="Apple SD Gothic Neo"/>
                          <a:ea typeface="Apple SD Gothic Neo"/>
                          <a:cs typeface="Apple SD Gothic Neo"/>
                        </a:rPr>
                        <a:t>4분</a:t>
                      </a:r>
                    </a:p>
                  </a:txBody>
                  <a:tcPr marL="91440" marR="91440" marT="45720" marB="45720">
                    <a:solidFill>
                      <a:srgbClr val="123D2C"/>
                    </a:solidFill>
                  </a:tcPr>
                </a:tc>
              </a:tr>
              <a:tr h="598714">
                <a:tc>
                  <a:txBody>
                    <a:bodyPr/>
                    <a:lstStyle/>
                    <a:p>
                      <a:r>
                        <a:rPr sz="1875" b="0">
                          <a:solidFill>
                            <a:srgbClr val="F8FAF8"/>
                          </a:solidFill>
                          <a:latin typeface="Apple SD Gothic Neo"/>
                          <a:ea typeface="Apple SD Gothic Neo"/>
                          <a:cs typeface="Apple SD Gothic Neo"/>
                        </a:rPr>
                        <a:t>모델과 실험 설계</a:t>
                      </a:r>
                    </a:p>
                  </a:txBody>
                  <a:tcPr marL="91440" marR="91440" marT="45720" marB="45720">
                    <a:solidFill>
                      <a:srgbClr val="073322"/>
                    </a:solidFill>
                  </a:tcPr>
                </a:tc>
                <a:tc>
                  <a:txBody>
                    <a:bodyPr/>
                    <a:lstStyle/>
                    <a:p>
                      <a:r>
                        <a:rPr sz="1875" b="0">
                          <a:solidFill>
                            <a:srgbClr val="F8FAF8"/>
                          </a:solidFill>
                          <a:latin typeface="Apple SD Gothic Neo"/>
                          <a:ea typeface="Apple SD Gothic Neo"/>
                          <a:cs typeface="Apple SD Gothic Neo"/>
                        </a:rPr>
                        <a:t>5분</a:t>
                      </a:r>
                    </a:p>
                  </a:txBody>
                  <a:tcPr marL="91440" marR="91440" marT="45720" marB="45720">
                    <a:solidFill>
                      <a:srgbClr val="073322"/>
                    </a:solidFill>
                  </a:tcPr>
                </a:tc>
              </a:tr>
              <a:tr h="598714">
                <a:tc>
                  <a:txBody>
                    <a:bodyPr/>
                    <a:lstStyle/>
                    <a:p>
                      <a:r>
                        <a:rPr sz="1875" b="0">
                          <a:solidFill>
                            <a:srgbClr val="F8FAF8"/>
                          </a:solidFill>
                          <a:latin typeface="Apple SD Gothic Neo"/>
                          <a:ea typeface="Apple SD Gothic Neo"/>
                          <a:cs typeface="Apple SD Gothic Neo"/>
                        </a:rPr>
                        <a:t>성능과 오차 해석</a:t>
                      </a:r>
                    </a:p>
                  </a:txBody>
                  <a:tcPr marL="91440" marR="91440" marT="45720" marB="45720">
                    <a:solidFill>
                      <a:srgbClr val="123D2C"/>
                    </a:solidFill>
                  </a:tcPr>
                </a:tc>
                <a:tc>
                  <a:txBody>
                    <a:bodyPr/>
                    <a:lstStyle/>
                    <a:p>
                      <a:r>
                        <a:rPr sz="1875" b="0">
                          <a:solidFill>
                            <a:srgbClr val="F8FAF8"/>
                          </a:solidFill>
                          <a:latin typeface="Apple SD Gothic Neo"/>
                          <a:ea typeface="Apple SD Gothic Neo"/>
                          <a:cs typeface="Apple SD Gothic Neo"/>
                        </a:rPr>
                        <a:t>5분</a:t>
                      </a:r>
                    </a:p>
                  </a:txBody>
                  <a:tcPr marL="91440" marR="91440" marT="45720" marB="45720">
                    <a:solidFill>
                      <a:srgbClr val="123D2C"/>
                    </a:solidFill>
                  </a:tcPr>
                </a:tc>
              </a:tr>
              <a:tr h="598714">
                <a:tc>
                  <a:txBody>
                    <a:bodyPr/>
                    <a:lstStyle/>
                    <a:p>
                      <a:r>
                        <a:rPr sz="1875" b="0">
                          <a:solidFill>
                            <a:srgbClr val="F8FAF8"/>
                          </a:solidFill>
                          <a:latin typeface="Apple SD Gothic Neo"/>
                          <a:ea typeface="Apple SD Gothic Neo"/>
                          <a:cs typeface="Apple SD Gothic Neo"/>
                        </a:rPr>
                        <a:t>예측구간과 한계</a:t>
                      </a:r>
                    </a:p>
                  </a:txBody>
                  <a:tcPr marL="91440" marR="91440" marT="45720" marB="45720">
                    <a:solidFill>
                      <a:srgbClr val="073322"/>
                    </a:solidFill>
                  </a:tcPr>
                </a:tc>
                <a:tc>
                  <a:txBody>
                    <a:bodyPr/>
                    <a:lstStyle/>
                    <a:p>
                      <a:r>
                        <a:rPr sz="1875" b="0">
                          <a:solidFill>
                            <a:srgbClr val="F8FAF8"/>
                          </a:solidFill>
                          <a:latin typeface="Apple SD Gothic Neo"/>
                          <a:ea typeface="Apple SD Gothic Neo"/>
                          <a:cs typeface="Apple SD Gothic Neo"/>
                        </a:rPr>
                        <a:t>3분</a:t>
                      </a:r>
                    </a:p>
                  </a:txBody>
                  <a:tcPr marL="91440" marR="91440" marT="45720" marB="45720">
                    <a:solidFill>
                      <a:srgbClr val="073322"/>
                    </a:solidFill>
                  </a:tcPr>
                </a:tc>
              </a:tr>
              <a:tr h="598714">
                <a:tc>
                  <a:txBody>
                    <a:bodyPr/>
                    <a:lstStyle/>
                    <a:p>
                      <a:r>
                        <a:rPr sz="1875" b="0">
                          <a:solidFill>
                            <a:srgbClr val="F8FAF8"/>
                          </a:solidFill>
                          <a:latin typeface="Apple SD Gothic Neo"/>
                          <a:ea typeface="Apple SD Gothic Neo"/>
                          <a:cs typeface="Apple SD Gothic Neo"/>
                        </a:rPr>
                        <a:t>결론</a:t>
                      </a:r>
                    </a:p>
                  </a:txBody>
                  <a:tcPr marL="91440" marR="91440" marT="45720" marB="45720">
                    <a:solidFill>
                      <a:srgbClr val="123D2C"/>
                    </a:solidFill>
                  </a:tcPr>
                </a:tc>
                <a:tc>
                  <a:txBody>
                    <a:bodyPr/>
                    <a:lstStyle/>
                    <a:p>
                      <a:r>
                        <a:rPr sz="1875" b="0">
                          <a:solidFill>
                            <a:srgbClr val="F8FAF8"/>
                          </a:solidFill>
                          <a:latin typeface="Apple SD Gothic Neo"/>
                          <a:ea typeface="Apple SD Gothic Neo"/>
                          <a:cs typeface="Apple SD Gothic Neo"/>
                        </a:rPr>
                        <a:t>2분</a:t>
                      </a:r>
                    </a:p>
                  </a:txBody>
                  <a:tcPr marL="91440" marR="91440" marT="45720" marB="45720">
                    <a:solidFill>
                      <a:srgbClr val="123D2C"/>
                    </a:solidFill>
                  </a:tcPr>
                </a:tc>
              </a:tr>
            </a:tbl>
          </a:graphicData>
        </a:graphic>
      </p:graphicFrame>
    </p:spTree>
    <p:extLst>
      <p:ext uri="{BB962C8B-B14F-4D97-AF65-F5344CB8AC3E}">
        <p14:creationId xmlns:p14="http://schemas.microsoft.com/office/powerpoint/2010/main" val="29158774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3</a:t>
            </a: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데이터와 연구 질문</a:t>
            </a:r>
          </a:p>
        </p:txBody>
      </p:sp>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700" y="1684867"/>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solidFill>
                  <a:srgbClr val="BCEF59"/>
                </a:solidFill>
                <a:latin typeface="Apple SD Gothic Neo"/>
                <a:ea typeface="Apple SD Gothic Neo"/>
                <a:cs typeface="Apple SD Gothic Neo"/>
              </a:rPr>
              <a:t>전국 전력수요</a:t>
            </a:r>
          </a:p>
          <a:p xmlns:a="http://schemas.openxmlformats.org/drawingml/2006/main">
            <a:pPr marL="0" indent="0">
              <a:lnSpc>
                <a:spcPct val="114000"/>
              </a:lnSpc>
              <a:spcBef>
                <a:spcPts val="0"/>
              </a:spcBef>
              <a:spcAft>
                <a:spcPts val="800"/>
              </a:spcAft>
              <a:buFont typeface="Arial"/>
              <a:buNone/>
            </a:pPr>
            <a:r>
              <a:rPr sz="1800">
                <a:solidFill>
                  <a:srgbClr val="BCEF59"/>
                </a:solidFill>
                <a:latin typeface="Apple SD Gothic Neo"/>
                <a:ea typeface="Apple SD Gothic Neo"/>
                <a:cs typeface="Apple SD Gothic Neo"/>
              </a:rPr>
              <a:t>2025년 365일, 8,760시간</a:t>
            </a:r>
          </a:p>
          <a:p xmlns:a="http://schemas.openxmlformats.org/drawingml/2006/main">
            <a:pPr marL="0" indent="0">
              <a:lnSpc>
                <a:spcPct val="114000"/>
              </a:lnSpc>
              <a:spcBef>
                <a:spcPts val="0"/>
              </a:spcBef>
              <a:spcAft>
                <a:spcPts val="800"/>
              </a:spcAft>
              <a:buFont typeface="Arial"/>
              <a:buNone/>
            </a:pPr>
            <a:r>
              <a:rPr sz="1800">
                <a:solidFill>
                  <a:srgbClr val="BCEF59"/>
                </a:solidFill>
                <a:latin typeface="Apple SD Gothic Neo"/>
                <a:ea typeface="Apple SD Gothic Neo"/>
                <a:cs typeface="Apple SD Gothic Neo"/>
              </a:rPr>
              <a:t>발전단 수요 잠정자료, 단위 MWh</a:t>
            </a:r>
          </a:p>
          <a:p xmlns:a="http://schemas.openxmlformats.org/drawingml/2006/main">
            <a:pPr marL="0" indent="0">
              <a:lnSpc>
                <a:spcPct val="114000"/>
              </a:lnSpc>
              <a:spcBef>
                <a:spcPts val="0"/>
              </a:spcBef>
              <a:spcAft>
                <a:spcPts val="800"/>
              </a:spcAft>
              <a:buFont typeface="Arial"/>
              <a:buNone/>
            </a:pPr>
            <a:r>
              <a:rPr sz="1800">
                <a:solidFill>
                  <a:srgbClr val="BCEF59"/>
                </a:solidFill>
                <a:latin typeface="Apple SD Gothic Neo"/>
                <a:ea typeface="Apple SD Gothic Neo"/>
                <a:cs typeface="Apple SD Gothic Neo"/>
              </a:rPr>
              <a:t>육지와 제주를 모두 포함</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700" y="3855855"/>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solidFill>
                  <a:srgbClr val="BCEF59"/>
                </a:solidFill>
                <a:latin typeface="Apple SD Gothic Neo"/>
                <a:ea typeface="Apple SD Gothic Neo"/>
                <a:cs typeface="Apple SD Gothic Neo"/>
              </a:rPr>
              <a:t>7개 도시 날씨</a:t>
            </a:r>
          </a:p>
          <a:p xmlns:a="http://schemas.openxmlformats.org/drawingml/2006/main">
            <a:pPr marL="0" indent="0">
              <a:lnSpc>
                <a:spcPct val="114000"/>
              </a:lnSpc>
              <a:spcBef>
                <a:spcPts val="0"/>
              </a:spcBef>
              <a:spcAft>
                <a:spcPts val="800"/>
              </a:spcAft>
              <a:buFont typeface="Arial"/>
              <a:buNone/>
            </a:pPr>
            <a:r>
              <a:rPr sz="1800">
                <a:solidFill>
                  <a:srgbClr val="BCEF59"/>
                </a:solidFill>
                <a:latin typeface="Apple SD Gothic Neo"/>
                <a:ea typeface="Apple SD Gothic Neo"/>
                <a:cs typeface="Apple SD Gothic Neo"/>
              </a:rPr>
              <a:t>서울·인천·대전·대구·광주·부산·제주</a:t>
            </a:r>
          </a:p>
          <a:p xmlns:a="http://schemas.openxmlformats.org/drawingml/2006/main">
            <a:pPr marL="0" indent="0">
              <a:lnSpc>
                <a:spcPct val="114000"/>
              </a:lnSpc>
              <a:spcBef>
                <a:spcPts val="0"/>
              </a:spcBef>
              <a:spcAft>
                <a:spcPts val="800"/>
              </a:spcAft>
              <a:buFont typeface="Arial"/>
              <a:buNone/>
            </a:pPr>
            <a:r>
              <a:rPr sz="1800">
                <a:solidFill>
                  <a:srgbClr val="BCEF59"/>
                </a:solidFill>
                <a:latin typeface="Apple SD Gothic Neo"/>
                <a:ea typeface="Apple SD Gothic Neo"/>
                <a:cs typeface="Apple SD Gothic Neo"/>
              </a:rPr>
              <a:t>기상 6개 요소와 달력 정보를 활용</a:t>
            </a:r>
          </a:p>
          <a:p xmlns:a="http://schemas.openxmlformats.org/drawingml/2006/main">
            <a:pPr marL="0" indent="0">
              <a:lnSpc>
                <a:spcPct val="114000"/>
              </a:lnSpc>
              <a:spcBef>
                <a:spcPts val="0"/>
              </a:spcBef>
              <a:spcAft>
                <a:spcPts val="800"/>
              </a:spcAft>
              <a:buFont typeface="Arial"/>
              <a:buNone/>
            </a:pPr>
            <a:r>
              <a:rPr sz="1800">
                <a:solidFill>
                  <a:srgbClr val="BCEF59"/>
                </a:solidFill>
                <a:latin typeface="Apple SD Gothic Neo"/>
                <a:ea typeface="Apple SD Gothic Neo"/>
                <a:cs typeface="Apple SD Gothic Neo"/>
              </a:rPr>
              <a:t>단순 예측·SARIMA·딥러닝을 비교</a:t>
            </a:r>
          </a:p>
        </p:txBody>
      </p:sp>
      <p:graphicFrame>
        <p:nvGraphicFramePr>
          <p:cNvPr id="540" name=""/>
          <p:cNvGraphicFramePr/>
          <p:nvPr/>
        </p:nvGraphicFramePr>
        <p:xfrm>
          <a:off xmlns:a="http://schemas.openxmlformats.org/drawingml/2006/main" x="6267450" y="1676400"/>
          <a:ext xmlns:a="http://schemas.openxmlformats.org/drawingml/2006/main" cx="5543550" cy="3714750"/>
        </p:xfrm>
        <a:graphic xmlns:a="http://schemas.openxmlformats.org/drawingml/2006/main">
          <a:graphicData uri="http://schemas.openxmlformats.org/drawingml/2006/table">
            <a:tbl>
              <a:tblPr/>
              <a:tblGrid>
                <a:gridCol w="1714500"/>
                <a:gridCol w="3810000"/>
              </a:tblGrid>
              <a:tr h="619125">
                <a:tc>
                  <a:txBody>
                    <a:bodyPr/>
                    <a:lstStyle/>
                    <a:p>
                      <a:r>
                        <a:rPr sz="1650" b="1">
                          <a:solidFill>
                            <a:srgbClr val="B9ED4C"/>
                          </a:solidFill>
                          <a:latin typeface="Apple SD Gothic Neo"/>
                          <a:ea typeface="Apple SD Gothic Neo"/>
                          <a:cs typeface="Apple SD Gothic Neo"/>
                        </a:rPr>
                        <a:t>입력</a:t>
                      </a:r>
                    </a:p>
                  </a:txBody>
                  <a:tcPr marL="91440" marR="91440" marT="45720" marB="45720">
                    <a:solidFill>
                      <a:srgbClr val="264B3A"/>
                    </a:solidFill>
                  </a:tcPr>
                </a:tc>
                <a:tc>
                  <a:txBody>
                    <a:bodyPr/>
                    <a:lstStyle/>
                    <a:p>
                      <a:r>
                        <a:rPr sz="1650" b="1">
                          <a:solidFill>
                            <a:srgbClr val="B9ED4C"/>
                          </a:solidFill>
                          <a:latin typeface="Apple SD Gothic Neo"/>
                          <a:ea typeface="Apple SD Gothic Neo"/>
                          <a:cs typeface="Apple SD Gothic Neo"/>
                        </a:rPr>
                        <a:t>구성</a:t>
                      </a:r>
                    </a:p>
                  </a:txBody>
                  <a:tcPr marL="91440" marR="91440" marT="45720" marB="45720">
                    <a:solidFill>
                      <a:srgbClr val="264B3A"/>
                    </a:solidFill>
                  </a:tcPr>
                </a:tc>
              </a:tr>
              <a:tr h="619125">
                <a:tc>
                  <a:txBody>
                    <a:bodyPr/>
                    <a:lstStyle/>
                    <a:p>
                      <a:r>
                        <a:rPr sz="1650" b="0">
                          <a:solidFill>
                            <a:srgbClr val="F8FAF8"/>
                          </a:solidFill>
                          <a:latin typeface="Apple SD Gothic Neo"/>
                          <a:ea typeface="Apple SD Gothic Neo"/>
                          <a:cs typeface="Apple SD Gothic Neo"/>
                        </a:rPr>
                        <a:t>수요</a:t>
                      </a:r>
                    </a:p>
                  </a:txBody>
                  <a:tcPr marL="91440" marR="91440" marT="45720" marB="45720">
                    <a:solidFill>
                      <a:srgbClr val="073322"/>
                    </a:solidFill>
                  </a:tcPr>
                </a:tc>
                <a:tc>
                  <a:txBody>
                    <a:bodyPr/>
                    <a:lstStyle/>
                    <a:p>
                      <a:r>
                        <a:rPr sz="1650" b="0">
                          <a:solidFill>
                            <a:srgbClr val="F8FAF8"/>
                          </a:solidFill>
                          <a:latin typeface="Apple SD Gothic Neo"/>
                          <a:ea typeface="Apple SD Gothic Neo"/>
                          <a:cs typeface="Apple SD Gothic Neo"/>
                        </a:rPr>
                        <a:t>전국 시간별 MWh</a:t>
                      </a:r>
                    </a:p>
                  </a:txBody>
                  <a:tcPr marL="91440" marR="91440" marT="45720" marB="45720">
                    <a:solidFill>
                      <a:srgbClr val="073322"/>
                    </a:solidFill>
                  </a:tcPr>
                </a:tc>
              </a:tr>
              <a:tr h="619125">
                <a:tc>
                  <a:txBody>
                    <a:bodyPr/>
                    <a:lstStyle/>
                    <a:p>
                      <a:r>
                        <a:rPr sz="1650" b="0">
                          <a:solidFill>
                            <a:srgbClr val="F8FAF8"/>
                          </a:solidFill>
                          <a:latin typeface="Apple SD Gothic Neo"/>
                          <a:ea typeface="Apple SD Gothic Neo"/>
                          <a:cs typeface="Apple SD Gothic Neo"/>
                        </a:rPr>
                        <a:t>기상</a:t>
                      </a:r>
                    </a:p>
                  </a:txBody>
                  <a:tcPr marL="91440" marR="91440" marT="45720" marB="45720">
                    <a:solidFill>
                      <a:srgbClr val="123D2C"/>
                    </a:solidFill>
                  </a:tcPr>
                </a:tc>
                <a:tc>
                  <a:txBody>
                    <a:bodyPr/>
                    <a:lstStyle/>
                    <a:p>
                      <a:r>
                        <a:rPr sz="1650" b="0">
                          <a:solidFill>
                            <a:srgbClr val="F8FAF8"/>
                          </a:solidFill>
                          <a:latin typeface="Apple SD Gothic Neo"/>
                          <a:ea typeface="Apple SD Gothic Neo"/>
                          <a:cs typeface="Apple SD Gothic Neo"/>
                        </a:rPr>
                        <a:t>7개 도시 × 6개 요소</a:t>
                      </a:r>
                    </a:p>
                  </a:txBody>
                  <a:tcPr marL="91440" marR="91440" marT="45720" marB="45720">
                    <a:solidFill>
                      <a:srgbClr val="123D2C"/>
                    </a:solidFill>
                  </a:tcPr>
                </a:tc>
              </a:tr>
              <a:tr h="619125">
                <a:tc>
                  <a:txBody>
                    <a:bodyPr/>
                    <a:lstStyle/>
                    <a:p>
                      <a:r>
                        <a:rPr sz="1650" b="0">
                          <a:solidFill>
                            <a:srgbClr val="F8FAF8"/>
                          </a:solidFill>
                          <a:latin typeface="Apple SD Gothic Neo"/>
                          <a:ea typeface="Apple SD Gothic Neo"/>
                          <a:cs typeface="Apple SD Gothic Neo"/>
                        </a:rPr>
                        <a:t>결측 표시</a:t>
                      </a:r>
                    </a:p>
                  </a:txBody>
                  <a:tcPr marL="91440" marR="91440" marT="45720" marB="45720">
                    <a:solidFill>
                      <a:srgbClr val="073322"/>
                    </a:solidFill>
                  </a:tcPr>
                </a:tc>
                <a:tc>
                  <a:txBody>
                    <a:bodyPr/>
                    <a:lstStyle/>
                    <a:p>
                      <a:r>
                        <a:rPr sz="1650" b="0">
                          <a:solidFill>
                            <a:srgbClr val="F8FAF8"/>
                          </a:solidFill>
                          <a:latin typeface="Apple SD Gothic Neo"/>
                          <a:ea typeface="Apple SD Gothic Neo"/>
                          <a:cs typeface="Apple SD Gothic Neo"/>
                        </a:rPr>
                        <a:t>기상 변수별 0/1</a:t>
                      </a:r>
                    </a:p>
                  </a:txBody>
                  <a:tcPr marL="91440" marR="91440" marT="45720" marB="45720">
                    <a:solidFill>
                      <a:srgbClr val="073322"/>
                    </a:solidFill>
                  </a:tcPr>
                </a:tc>
              </a:tr>
              <a:tr h="619125">
                <a:tc>
                  <a:txBody>
                    <a:bodyPr/>
                    <a:lstStyle/>
                    <a:p>
                      <a:r>
                        <a:rPr sz="1650" b="0">
                          <a:solidFill>
                            <a:srgbClr val="F8FAF8"/>
                          </a:solidFill>
                          <a:latin typeface="Apple SD Gothic Neo"/>
                          <a:ea typeface="Apple SD Gothic Neo"/>
                          <a:cs typeface="Apple SD Gothic Neo"/>
                        </a:rPr>
                        <a:t>달력</a:t>
                      </a:r>
                    </a:p>
                  </a:txBody>
                  <a:tcPr marL="91440" marR="91440" marT="45720" marB="45720">
                    <a:solidFill>
                      <a:srgbClr val="123D2C"/>
                    </a:solidFill>
                  </a:tcPr>
                </a:tc>
                <a:tc>
                  <a:txBody>
                    <a:bodyPr/>
                    <a:lstStyle/>
                    <a:p>
                      <a:r>
                        <a:rPr sz="1650" b="0">
                          <a:solidFill>
                            <a:srgbClr val="F8FAF8"/>
                          </a:solidFill>
                          <a:latin typeface="Apple SD Gothic Neo"/>
                          <a:ea typeface="Apple SD Gothic Neo"/>
                          <a:cs typeface="Apple SD Gothic Neo"/>
                        </a:rPr>
                        <a:t>시각·요일·월 주기</a:t>
                      </a:r>
                    </a:p>
                  </a:txBody>
                  <a:tcPr marL="91440" marR="91440" marT="45720" marB="45720">
                    <a:solidFill>
                      <a:srgbClr val="123D2C"/>
                    </a:solidFill>
                  </a:tcPr>
                </a:tc>
              </a:tr>
              <a:tr h="619125">
                <a:tc>
                  <a:txBody>
                    <a:bodyPr/>
                    <a:lstStyle/>
                    <a:p>
                      <a:r>
                        <a:rPr sz="1650" b="0">
                          <a:solidFill>
                            <a:srgbClr val="F8FAF8"/>
                          </a:solidFill>
                          <a:latin typeface="Apple SD Gothic Neo"/>
                          <a:ea typeface="Apple SD Gothic Neo"/>
                          <a:cs typeface="Apple SD Gothic Neo"/>
                        </a:rPr>
                        <a:t>예측 대상</a:t>
                      </a:r>
                    </a:p>
                  </a:txBody>
                  <a:tcPr marL="91440" marR="91440" marT="45720" marB="45720">
                    <a:solidFill>
                      <a:srgbClr val="073322"/>
                    </a:solidFill>
                  </a:tcPr>
                </a:tc>
                <a:tc>
                  <a:txBody>
                    <a:bodyPr/>
                    <a:lstStyle/>
                    <a:p>
                      <a:r>
                        <a:rPr sz="1650" b="0">
                          <a:solidFill>
                            <a:srgbClr val="F8FAF8"/>
                          </a:solidFill>
                          <a:latin typeface="Apple SD Gothic Neo"/>
                          <a:ea typeface="Apple SD Gothic Neo"/>
                          <a:cs typeface="Apple SD Gothic Neo"/>
                        </a:rPr>
                        <a:t>다음 1시간 수요</a:t>
                      </a:r>
                    </a:p>
                  </a:txBody>
                  <a:tcPr marL="91440" marR="91440" marT="45720" marB="45720">
                    <a:solidFill>
                      <a:srgbClr val="073322"/>
                    </a:solidFill>
                  </a:tcPr>
                </a:tc>
              </a:tr>
            </a:tbl>
          </a:graphicData>
        </a:graphic>
      </p:graphicFrame>
    </p:spTree>
    <p:extLst>
      <p:ext uri="{BB962C8B-B14F-4D97-AF65-F5344CB8AC3E}">
        <p14:creationId xmlns:p14="http://schemas.microsoft.com/office/powerpoint/2010/main" val="3245670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4</a:t>
            </a: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원본 데이터 품질 점검</a:t>
            </a:r>
          </a:p>
        </p:txBody>
      </p:sp>
      <p:graphicFrame>
        <p:nvGraphicFramePr>
          <p:cNvPr id="539" name=""/>
          <p:cNvGraphicFramePr/>
          <p:nvPr/>
        </p:nvGraphicFramePr>
        <p:xfrm>
          <a:off xmlns:a="http://schemas.openxmlformats.org/drawingml/2006/main" x="400050" y="1562100"/>
          <a:ext xmlns:a="http://schemas.openxmlformats.org/drawingml/2006/main" cx="11391900" cy="3714750"/>
        </p:xfrm>
        <a:graphic xmlns:a="http://schemas.openxmlformats.org/drawingml/2006/main">
          <a:graphicData uri="http://schemas.openxmlformats.org/drawingml/2006/table">
            <a:tbl>
              <a:tblPr/>
              <a:tblGrid>
                <a:gridCol w="2381250"/>
                <a:gridCol w="4286250"/>
                <a:gridCol w="4724400"/>
              </a:tblGrid>
              <a:tr h="619125">
                <a:tc>
                  <a:txBody>
                    <a:bodyPr/>
                    <a:lstStyle/>
                    <a:p>
                      <a:r>
                        <a:rPr sz="1650" b="1">
                          <a:solidFill>
                            <a:srgbClr val="B9ED4C"/>
                          </a:solidFill>
                          <a:latin typeface="Apple SD Gothic Neo"/>
                          <a:ea typeface="Apple SD Gothic Neo"/>
                          <a:cs typeface="Apple SD Gothic Neo"/>
                        </a:rPr>
                        <a:t>점검 항목</a:t>
                      </a:r>
                    </a:p>
                  </a:txBody>
                  <a:tcPr marL="91440" marR="91440" marT="45720" marB="45720">
                    <a:solidFill>
                      <a:srgbClr val="264B3A"/>
                    </a:solidFill>
                  </a:tcPr>
                </a:tc>
                <a:tc>
                  <a:txBody>
                    <a:bodyPr/>
                    <a:lstStyle/>
                    <a:p>
                      <a:r>
                        <a:rPr sz="1650" b="1">
                          <a:solidFill>
                            <a:srgbClr val="B9ED4C"/>
                          </a:solidFill>
                          <a:latin typeface="Apple SD Gothic Neo"/>
                          <a:ea typeface="Apple SD Gothic Neo"/>
                          <a:cs typeface="Apple SD Gothic Neo"/>
                        </a:rPr>
                        <a:t>원본 상태</a:t>
                      </a:r>
                    </a:p>
                  </a:txBody>
                  <a:tcPr marL="91440" marR="91440" marT="45720" marB="45720">
                    <a:solidFill>
                      <a:srgbClr val="264B3A"/>
                    </a:solidFill>
                  </a:tcPr>
                </a:tc>
                <a:tc>
                  <a:txBody>
                    <a:bodyPr/>
                    <a:lstStyle/>
                    <a:p>
                      <a:r>
                        <a:rPr sz="1650" b="1">
                          <a:solidFill>
                            <a:srgbClr val="B9ED4C"/>
                          </a:solidFill>
                          <a:latin typeface="Apple SD Gothic Neo"/>
                          <a:ea typeface="Apple SD Gothic Neo"/>
                          <a:cs typeface="Apple SD Gothic Neo"/>
                        </a:rPr>
                        <a:t>처리</a:t>
                      </a:r>
                    </a:p>
                  </a:txBody>
                  <a:tcPr marL="91440" marR="91440" marT="45720" marB="45720">
                    <a:solidFill>
                      <a:srgbClr val="264B3A"/>
                    </a:solidFill>
                  </a:tcPr>
                </a:tc>
              </a:tr>
              <a:tr h="619125">
                <a:tc>
                  <a:txBody>
                    <a:bodyPr/>
                    <a:lstStyle/>
                    <a:p>
                      <a:r>
                        <a:rPr sz="1650" b="0">
                          <a:solidFill>
                            <a:srgbClr val="F8FAF8"/>
                          </a:solidFill>
                          <a:latin typeface="Apple SD Gothic Neo"/>
                          <a:ea typeface="Apple SD Gothic Neo"/>
                          <a:cs typeface="Apple SD Gothic Neo"/>
                        </a:rPr>
                        <a:t>전력수요</a:t>
                      </a:r>
                    </a:p>
                  </a:txBody>
                  <a:tcPr marL="91440" marR="91440" marT="45720" marB="45720">
                    <a:solidFill>
                      <a:srgbClr val="073322"/>
                    </a:solidFill>
                  </a:tcPr>
                </a:tc>
                <a:tc>
                  <a:txBody>
                    <a:bodyPr/>
                    <a:lstStyle/>
                    <a:p>
                      <a:r>
                        <a:rPr sz="1650" b="0">
                          <a:solidFill>
                            <a:srgbClr val="F8FAF8"/>
                          </a:solidFill>
                          <a:latin typeface="Apple SD Gothic Neo"/>
                          <a:ea typeface="Apple SD Gothic Neo"/>
                          <a:cs typeface="Apple SD Gothic Neo"/>
                        </a:rPr>
                        <a:t>빈 행 1개</a:t>
                      </a:r>
                    </a:p>
                  </a:txBody>
                  <a:tcPr marL="91440" marR="91440" marT="45720" marB="45720">
                    <a:solidFill>
                      <a:srgbClr val="073322"/>
                    </a:solidFill>
                  </a:tcPr>
                </a:tc>
                <a:tc>
                  <a:txBody>
                    <a:bodyPr/>
                    <a:lstStyle/>
                    <a:p>
                      <a:r>
                        <a:rPr sz="1650" b="0">
                          <a:solidFill>
                            <a:srgbClr val="F8FAF8"/>
                          </a:solidFill>
                          <a:latin typeface="Apple SD Gothic Neo"/>
                          <a:ea typeface="Apple SD Gothic Neo"/>
                          <a:cs typeface="Apple SD Gothic Neo"/>
                        </a:rPr>
                        <a:t>제거 후 8,760시간</a:t>
                      </a:r>
                    </a:p>
                  </a:txBody>
                  <a:tcPr marL="91440" marR="91440" marT="45720" marB="45720">
                    <a:solidFill>
                      <a:srgbClr val="073322"/>
                    </a:solidFill>
                  </a:tcPr>
                </a:tc>
              </a:tr>
              <a:tr h="619125">
                <a:tc>
                  <a:txBody>
                    <a:bodyPr/>
                    <a:lstStyle/>
                    <a:p>
                      <a:r>
                        <a:rPr sz="1650" b="0">
                          <a:solidFill>
                            <a:srgbClr val="F8FAF8"/>
                          </a:solidFill>
                          <a:latin typeface="Apple SD Gothic Neo"/>
                          <a:ea typeface="Apple SD Gothic Neo"/>
                          <a:cs typeface="Apple SD Gothic Neo"/>
                        </a:rPr>
                        <a:t>광주 시간축</a:t>
                      </a:r>
                    </a:p>
                  </a:txBody>
                  <a:tcPr marL="91440" marR="91440" marT="45720" marB="45720">
                    <a:solidFill>
                      <a:srgbClr val="123D2C"/>
                    </a:solidFill>
                  </a:tcPr>
                </a:tc>
                <a:tc>
                  <a:txBody>
                    <a:bodyPr/>
                    <a:lstStyle/>
                    <a:p>
                      <a:r>
                        <a:rPr sz="1650" b="0">
                          <a:solidFill>
                            <a:srgbClr val="F8FAF8"/>
                          </a:solidFill>
                          <a:latin typeface="Apple SD Gothic Neo"/>
                          <a:ea typeface="Apple SD Gothic Neo"/>
                          <a:cs typeface="Apple SD Gothic Neo"/>
                        </a:rPr>
                        <a:t>2025-07-20 12시 행 누락</a:t>
                      </a:r>
                    </a:p>
                  </a:txBody>
                  <a:tcPr marL="91440" marR="91440" marT="45720" marB="45720">
                    <a:solidFill>
                      <a:srgbClr val="123D2C"/>
                    </a:solidFill>
                  </a:tcPr>
                </a:tc>
                <a:tc>
                  <a:txBody>
                    <a:bodyPr/>
                    <a:lstStyle/>
                    <a:p>
                      <a:r>
                        <a:rPr sz="1650" b="0">
                          <a:solidFill>
                            <a:srgbClr val="F8FAF8"/>
                          </a:solidFill>
                          <a:latin typeface="Apple SD Gothic Neo"/>
                          <a:ea typeface="Apple SD Gothic Neo"/>
                          <a:cs typeface="Apple SD Gothic Neo"/>
                        </a:rPr>
                        <a:t>시간축 복원, 과거 값 대체</a:t>
                      </a:r>
                    </a:p>
                  </a:txBody>
                  <a:tcPr marL="91440" marR="91440" marT="45720" marB="45720">
                    <a:solidFill>
                      <a:srgbClr val="123D2C"/>
                    </a:solidFill>
                  </a:tcPr>
                </a:tc>
              </a:tr>
              <a:tr h="619125">
                <a:tc>
                  <a:txBody>
                    <a:bodyPr/>
                    <a:lstStyle/>
                    <a:p>
                      <a:r>
                        <a:rPr sz="1650" b="0">
                          <a:solidFill>
                            <a:srgbClr val="F8FAF8"/>
                          </a:solidFill>
                          <a:latin typeface="Apple SD Gothic Neo"/>
                          <a:ea typeface="Apple SD Gothic Neo"/>
                          <a:cs typeface="Apple SD Gothic Neo"/>
                        </a:rPr>
                        <a:t>풍속</a:t>
                      </a:r>
                    </a:p>
                  </a:txBody>
                  <a:tcPr marL="91440" marR="91440" marT="45720" marB="45720">
                    <a:solidFill>
                      <a:srgbClr val="073322"/>
                    </a:solidFill>
                  </a:tcPr>
                </a:tc>
                <a:tc>
                  <a:txBody>
                    <a:bodyPr/>
                    <a:lstStyle/>
                    <a:p>
                      <a:r>
                        <a:rPr sz="1650" b="0">
                          <a:solidFill>
                            <a:srgbClr val="F8FAF8"/>
                          </a:solidFill>
                          <a:latin typeface="Apple SD Gothic Neo"/>
                          <a:ea typeface="Apple SD Gothic Neo"/>
                          <a:cs typeface="Apple SD Gothic Neo"/>
                        </a:rPr>
                        <a:t>관측 행 결측 19개</a:t>
                      </a:r>
                    </a:p>
                  </a:txBody>
                  <a:tcPr marL="91440" marR="91440" marT="45720" marB="45720">
                    <a:solidFill>
                      <a:srgbClr val="073322"/>
                    </a:solidFill>
                  </a:tcPr>
                </a:tc>
                <a:tc>
                  <a:txBody>
                    <a:bodyPr/>
                    <a:lstStyle/>
                    <a:p>
                      <a:r>
                        <a:rPr sz="1650" b="0">
                          <a:solidFill>
                            <a:srgbClr val="F8FAF8"/>
                          </a:solidFill>
                          <a:latin typeface="Apple SD Gothic Neo"/>
                          <a:ea typeface="Apple SD Gothic Neo"/>
                          <a:cs typeface="Apple SD Gothic Neo"/>
                        </a:rPr>
                        <a:t>과거 관측값으로 대체</a:t>
                      </a:r>
                    </a:p>
                  </a:txBody>
                  <a:tcPr marL="91440" marR="91440" marT="45720" marB="45720">
                    <a:solidFill>
                      <a:srgbClr val="073322"/>
                    </a:solidFill>
                  </a:tcPr>
                </a:tc>
              </a:tr>
              <a:tr h="619125">
                <a:tc>
                  <a:txBody>
                    <a:bodyPr/>
                    <a:lstStyle/>
                    <a:p>
                      <a:r>
                        <a:rPr sz="1650" b="0">
                          <a:solidFill>
                            <a:srgbClr val="F8FAF8"/>
                          </a:solidFill>
                          <a:latin typeface="Apple SD Gothic Neo"/>
                          <a:ea typeface="Apple SD Gothic Neo"/>
                          <a:cs typeface="Apple SD Gothic Neo"/>
                        </a:rPr>
                        <a:t>강수·일조·일사</a:t>
                      </a:r>
                    </a:p>
                  </a:txBody>
                  <a:tcPr marL="91440" marR="91440" marT="45720" marB="45720">
                    <a:solidFill>
                      <a:srgbClr val="123D2C"/>
                    </a:solidFill>
                  </a:tcPr>
                </a:tc>
                <a:tc>
                  <a:txBody>
                    <a:bodyPr/>
                    <a:lstStyle/>
                    <a:p>
                      <a:r>
                        <a:rPr sz="1650" b="0">
                          <a:solidFill>
                            <a:srgbClr val="F8FAF8"/>
                          </a:solidFill>
                          <a:latin typeface="Apple SD Gothic Neo"/>
                          <a:ea typeface="Apple SD Gothic Neo"/>
                          <a:cs typeface="Apple SD Gothic Neo"/>
                        </a:rPr>
                        <a:t>빈칸 의미를 완전히 구분 못함</a:t>
                      </a:r>
                    </a:p>
                  </a:txBody>
                  <a:tcPr marL="91440" marR="91440" marT="45720" marB="45720">
                    <a:solidFill>
                      <a:srgbClr val="123D2C"/>
                    </a:solidFill>
                  </a:tcPr>
                </a:tc>
                <a:tc>
                  <a:txBody>
                    <a:bodyPr/>
                    <a:lstStyle/>
                    <a:p>
                      <a:r>
                        <a:rPr sz="1650" b="0">
                          <a:solidFill>
                            <a:srgbClr val="F8FAF8"/>
                          </a:solidFill>
                          <a:latin typeface="Apple SD Gothic Neo"/>
                          <a:ea typeface="Apple SD Gothic Neo"/>
                          <a:cs typeface="Apple SD Gothic Neo"/>
                        </a:rPr>
                        <a:t>0 가정 + 결측 표시</a:t>
                      </a:r>
                    </a:p>
                  </a:txBody>
                  <a:tcPr marL="91440" marR="91440" marT="45720" marB="45720">
                    <a:solidFill>
                      <a:srgbClr val="123D2C"/>
                    </a:solidFill>
                  </a:tcPr>
                </a:tc>
              </a:tr>
              <a:tr h="619125">
                <a:tc>
                  <a:txBody>
                    <a:bodyPr/>
                    <a:lstStyle/>
                    <a:p>
                      <a:r>
                        <a:rPr sz="1650" b="0">
                          <a:solidFill>
                            <a:srgbClr val="F8FAF8"/>
                          </a:solidFill>
                          <a:latin typeface="Apple SD Gothic Neo"/>
                          <a:ea typeface="Apple SD Gothic Neo"/>
                          <a:cs typeface="Apple SD Gothic Neo"/>
                        </a:rPr>
                        <a:t>목표값·시간축</a:t>
                      </a:r>
                    </a:p>
                  </a:txBody>
                  <a:tcPr marL="91440" marR="91440" marT="45720" marB="45720">
                    <a:solidFill>
                      <a:srgbClr val="073322"/>
                    </a:solidFill>
                  </a:tcPr>
                </a:tc>
                <a:tc>
                  <a:txBody>
                    <a:bodyPr/>
                    <a:lstStyle/>
                    <a:p>
                      <a:r>
                        <a:rPr sz="1650" b="0">
                          <a:solidFill>
                            <a:srgbClr val="F8FAF8"/>
                          </a:solidFill>
                          <a:latin typeface="Apple SD Gothic Neo"/>
                          <a:ea typeface="Apple SD Gothic Neo"/>
                          <a:cs typeface="Apple SD Gothic Neo"/>
                        </a:rPr>
                        <a:t>원본 값 보존</a:t>
                      </a:r>
                    </a:p>
                  </a:txBody>
                  <a:tcPr marL="91440" marR="91440" marT="45720" marB="45720">
                    <a:solidFill>
                      <a:srgbClr val="073322"/>
                    </a:solidFill>
                  </a:tcPr>
                </a:tc>
                <a:tc>
                  <a:txBody>
                    <a:bodyPr/>
                    <a:lstStyle/>
                    <a:p>
                      <a:r>
                        <a:rPr sz="1650" b="0">
                          <a:solidFill>
                            <a:srgbClr val="F8FAF8"/>
                          </a:solidFill>
                          <a:latin typeface="Apple SD Gothic Neo"/>
                          <a:ea typeface="Apple SD Gothic Neo"/>
                          <a:cs typeface="Apple SD Gothic Neo"/>
                        </a:rPr>
                        <a:t>중복·누락·목표 불일치 0</a:t>
                      </a:r>
                    </a:p>
                  </a:txBody>
                  <a:tcPr marL="91440" marR="91440" marT="45720" marB="45720">
                    <a:solidFill>
                      <a:srgbClr val="073322"/>
                    </a:solidFill>
                  </a:tcPr>
                </a:tc>
              </a:tr>
            </a:tbl>
          </a:graphicData>
        </a:graphic>
      </p:graphicFrame>
      <p:sp>
        <p:nvSpPr>
          <p:cNvPr id="535" name="">
            <a:extLst xmlns:a="http://schemas.openxmlformats.org/drawingml/2006/main">
              <a:ext uri="{FF2B5EF4-FFF2-40B4-BE49-F238E27FC236}">
                <a16:creationId xmlns:a16="http://schemas.microsoft.com/office/drawing/2014/main" id="{75A047C8-0C2F-466B-836F-C3BE652F7A34}"/>
              </a:ext>
            </a:extLst>
          </p:cNvPr>
          <p:cNvSpPr>
            <a:spLocks xmlns:a="http://schemas.openxmlformats.org/drawingml/2006/main" noGrp="1"/>
          </p:cNvSpPr>
          <p:nvPr/>
        </p:nvSpPr>
        <p:spPr>
          <a:xfrm xmlns:a="http://schemas.openxmlformats.org/drawingml/2006/main">
            <a:off x="400050" y="5572125"/>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a:solidFill>
                  <a:srgbClr val="D0DAD5"/>
                </a:solidFill>
                <a:latin typeface="Apple SD Gothic Neo"/>
                <a:ea typeface="Apple SD Gothic Neo"/>
                <a:cs typeface="Apple SD Gothic Neo"/>
              </a:defRPr>
            </a:pPr>
            <a:r>
              <a:rPr sz="1725">
                <a:solidFill>
                  <a:srgbClr val="D0DAD5"/>
                </a:solidFill>
                <a:latin typeface="Apple SD Gothic Neo"/>
                <a:ea typeface="Apple SD Gothic Neo"/>
                <a:cs typeface="Apple SD Gothic Neo"/>
              </a:rPr>
              <a:t>QC 플래그가 없어 0 대체의 정확성은 후속 검증이 필요하다.</a:t>
            </a:r>
          </a:p>
        </p:txBody>
      </p:sp>
    </p:spTree>
    <p:extLst>
      <p:ext uri="{BB962C8B-B14F-4D97-AF65-F5344CB8AC3E}">
        <p14:creationId xmlns:p14="http://schemas.microsoft.com/office/powerpoint/2010/main" val="324567077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5</a:t>
            </a: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학습 구간의 시간대·요일 패턴</a:t>
            </a:r>
          </a:p>
        </p:txBody>
      </p:sp>
      <p:graphicFrame>
        <p:nvGraphicFramePr>
          <p:cNvPr id="540" name="Chart"/>
          <p:cNvGraphicFramePr/>
          <p:nvPr/>
        </p:nvGraphicFramePr>
        <p:xfrm>
          <a:off xmlns:a="http://schemas.openxmlformats.org/drawingml/2006/main" x="381000" y="1666875"/>
          <a:ext xmlns:a="http://schemas.openxmlformats.org/drawingml/2006/main" cx="5334000" cy="3333750"/>
        </p:xfrm>
        <a:graphic xmlns:a="http://schemas.openxmlformats.org/drawingml/2006/main">
          <a:graphicData uri="http://schemas.openxmlformats.org/drawingml/2006/chart">
            <c:chart xmlns:r="http://schemas.openxmlformats.org/officeDocument/2006/relationships" xmlns:c="http://schemas.openxmlformats.org/drawingml/2006/chart" r:id="R9c2f553706fc47d9"/>
          </a:graphicData>
        </a:graphic>
      </p:graphicFrame>
      <p:graphicFrame>
        <p:nvGraphicFramePr>
          <p:cNvPr id="541" name="Chart"/>
          <p:cNvGraphicFramePr/>
          <p:nvPr/>
        </p:nvGraphicFramePr>
        <p:xfrm>
          <a:off xmlns:a="http://schemas.openxmlformats.org/drawingml/2006/main" x="6286500" y="1666875"/>
          <a:ext xmlns:a="http://schemas.openxmlformats.org/drawingml/2006/main" cx="5334000" cy="3333750"/>
        </p:xfrm>
        <a:graphic xmlns:a="http://schemas.openxmlformats.org/drawingml/2006/main">
          <a:graphicData uri="http://schemas.openxmlformats.org/drawingml/2006/chart">
            <c:chart xmlns:r="http://schemas.openxmlformats.org/officeDocument/2006/relationships" xmlns:c="http://schemas.openxmlformats.org/drawingml/2006/chart" r:id="R1492533b45bd4f0c"/>
          </a:graphicData>
        </a:graphic>
      </p:graphicFrame>
      <p:sp>
        <p:nvSpPr>
          <p:cNvPr id="536" name="">
            <a:extLst xmlns:a="http://schemas.openxmlformats.org/drawingml/2006/main">
              <a:ext uri="{FF2B5EF4-FFF2-40B4-BE49-F238E27FC236}">
                <a16:creationId xmlns:a16="http://schemas.microsoft.com/office/drawing/2014/main" id="{250F43EE-9DED-4079-ACB9-ED2FDB01785E}"/>
              </a:ext>
            </a:extLst>
          </p:cNvPr>
          <p:cNvSpPr>
            <a:spLocks xmlns:a="http://schemas.openxmlformats.org/drawingml/2006/main" noGrp="1"/>
          </p:cNvSpPr>
          <p:nvPr/>
        </p:nvSpPr>
        <p:spPr>
          <a:xfrm xmlns:a="http://schemas.openxmlformats.org/drawingml/2006/main">
            <a:off x="400050" y="5457825"/>
            <a:ext cx="11391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a:solidFill>
                  <a:srgbClr val="D0DAD5"/>
                </a:solidFill>
                <a:latin typeface="Apple SD Gothic Neo"/>
                <a:ea typeface="Apple SD Gothic Neo"/>
                <a:cs typeface="Apple SD Gothic Neo"/>
              </a:defRPr>
            </a:pPr>
            <a:r>
              <a:rPr sz="1725">
                <a:solidFill>
                  <a:srgbClr val="D0DAD5"/>
                </a:solidFill>
                <a:latin typeface="Apple SD Gothic Neo"/>
                <a:ea typeface="Apple SD Gothic Neo"/>
                <a:cs typeface="Apple SD Gothic Neo"/>
              </a:rPr>
              <a:t>학습 6,132시간 기준. 시간대 평균 최대 20시, 최소 4시. 평일 평균 67,755 / 주말 59,451 MWh.</a:t>
            </a:r>
          </a:p>
        </p:txBody>
      </p:sp>
    </p:spTree>
    <p:extLst>
      <p:ext uri="{BB962C8B-B14F-4D97-AF65-F5344CB8AC3E}">
        <p14:creationId xmlns:p14="http://schemas.microsoft.com/office/powerpoint/2010/main" val="324567077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6</a:t>
            </a: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최근 수요와 일·주 단위 반복이 뚜렷하다</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b="1">
                <a:latin typeface="Apple SD Gothic Neo"/>
                <a:ea typeface="Apple SD Gothic Neo"/>
                <a:cs typeface="Apple SD Gothic Neo"/>
              </a:rPr>
              <a:t>직전 값의 지속성</a:t>
            </a:r>
          </a:p>
          <a:p xmlns:a="http://schemas.openxmlformats.org/drawingml/2006/main">
            <a:pPr marL="0" indent="0">
              <a:lnSpc>
                <a:spcPct val="114000"/>
              </a:lnSpc>
              <a:spcBef>
                <a:spcPts val="0"/>
              </a:spcBef>
              <a:spcAft>
                <a:spcPts val="800"/>
              </a:spcAft>
              <a:buNone/>
            </a:pPr>
            <a:r>
              <a:rPr sz="1800" b="1">
                <a:latin typeface="Apple SD Gothic Neo"/>
                <a:ea typeface="Apple SD Gothic Neo"/>
                <a:cs typeface="Apple SD Gothic Neo"/>
              </a:rPr>
              <a:t>1시간 자기상관이 높다.</a:t>
            </a:r>
          </a:p>
          <a:p xmlns:a="http://schemas.openxmlformats.org/drawingml/2006/main">
            <a:pPr marL="0" indent="0">
              <a:lnSpc>
                <a:spcPct val="114000"/>
              </a:lnSpc>
              <a:spcBef>
                <a:spcPts val="0"/>
              </a:spcBef>
              <a:spcAft>
                <a:spcPts val="800"/>
              </a:spcAft>
              <a:buNone/>
            </a:pPr>
            <a:r>
              <a:rPr sz="1800" b="1">
                <a:latin typeface="Apple SD Gothic Neo"/>
                <a:ea typeface="Apple SD Gothic Neo"/>
                <a:cs typeface="Apple SD Gothic Neo"/>
              </a:rPr>
              <a:t>직전 수요를 기준으로 변화량을 학습하는 잔차 구조를 사용한다.</a:t>
            </a: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b="1">
                <a:latin typeface="Apple SD Gothic Neo"/>
                <a:ea typeface="Apple SD Gothic Neo"/>
                <a:cs typeface="Apple SD Gothic Neo"/>
              </a:rPr>
              <a:t>주 단위 반복</a:t>
            </a:r>
          </a:p>
          <a:p xmlns:a="http://schemas.openxmlformats.org/drawingml/2006/main">
            <a:pPr marL="0" marR="0" lvl="0" indent="0">
              <a:lnSpc>
                <a:spcPct val="114000"/>
              </a:lnSpc>
              <a:spcBef>
                <a:spcPts val="0"/>
              </a:spcBef>
              <a:spcAft>
                <a:spcPts val="800"/>
              </a:spcAft>
              <a:buClrTx/>
              <a:buSzTx/>
              <a:buNone/>
            </a:pPr>
            <a:r>
              <a:rPr sz="1800" b="1">
                <a:latin typeface="Apple SD Gothic Neo"/>
                <a:ea typeface="Apple SD Gothic Neo"/>
                <a:cs typeface="Apple SD Gothic Neo"/>
              </a:rPr>
              <a:t>요일에 따른 수요 차이가 있다.</a:t>
            </a:r>
          </a:p>
          <a:p xmlns:a="http://schemas.openxmlformats.org/drawingml/2006/main">
            <a:pPr marL="0" marR="0" lvl="0" indent="0">
              <a:lnSpc>
                <a:spcPct val="114000"/>
              </a:lnSpc>
              <a:spcBef>
                <a:spcPts val="0"/>
              </a:spcBef>
              <a:spcAft>
                <a:spcPts val="800"/>
              </a:spcAft>
              <a:buClrTx/>
              <a:buSzTx/>
              <a:buNone/>
            </a:pPr>
            <a:r>
              <a:rPr sz="1800" b="1">
                <a:latin typeface="Apple SD Gothic Neo"/>
                <a:ea typeface="Apple SD Gothic Neo"/>
                <a:cs typeface="Apple SD Gothic Neo"/>
              </a:rPr>
              <a:t>168시간 전 수요와 주말 여부를 비교에 포함한다.</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b="1">
                <a:latin typeface="Apple SD Gothic Neo"/>
                <a:ea typeface="Apple SD Gothic Neo"/>
                <a:cs typeface="Apple SD Gothic Neo"/>
              </a:rPr>
              <a:t>일 단위 반복</a:t>
            </a:r>
          </a:p>
          <a:p xmlns:a="http://schemas.openxmlformats.org/drawingml/2006/main">
            <a:pPr marL="0" marR="0" lvl="0" indent="0">
              <a:lnSpc>
                <a:spcPct val="114000"/>
              </a:lnSpc>
              <a:spcBef>
                <a:spcPts val="0"/>
              </a:spcBef>
              <a:spcAft>
                <a:spcPts val="800"/>
              </a:spcAft>
              <a:buClrTx/>
              <a:buSzTx/>
              <a:buNone/>
            </a:pPr>
            <a:r>
              <a:rPr sz="1800" b="1">
                <a:latin typeface="Apple SD Gothic Neo"/>
                <a:ea typeface="Apple SD Gothic Neo"/>
                <a:cs typeface="Apple SD Gothic Neo"/>
              </a:rPr>
              <a:t>24시간 전 수요와 관련이 있다.</a:t>
            </a:r>
          </a:p>
          <a:p xmlns:a="http://schemas.openxmlformats.org/drawingml/2006/main">
            <a:pPr marL="0" marR="0" lvl="0" indent="0">
              <a:lnSpc>
                <a:spcPct val="114000"/>
              </a:lnSpc>
              <a:spcBef>
                <a:spcPts val="0"/>
              </a:spcBef>
              <a:spcAft>
                <a:spcPts val="800"/>
              </a:spcAft>
              <a:buClrTx/>
              <a:buSzTx/>
              <a:buNone/>
            </a:pPr>
            <a:r>
              <a:rPr sz="1800" b="1">
                <a:latin typeface="Apple SD Gothic Neo"/>
                <a:ea typeface="Apple SD Gothic Neo"/>
                <a:cs typeface="Apple SD Gothic Neo"/>
              </a:rPr>
              <a:t>일주기 SARIMA와 전날 같은 시각 기준선을 비교한다.</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b="1">
                <a:solidFill>
                  <a:srgbClr val="BCEF59"/>
                </a:solidFill>
                <a:latin typeface="Apple SD Gothic Neo"/>
                <a:ea typeface="Apple SD Gothic Neo"/>
                <a:cs typeface="Apple SD Gothic Neo"/>
              </a:rPr>
              <a:t>1시간  0.973</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b="1">
                <a:solidFill>
                  <a:srgbClr val="BCEF59"/>
                </a:solidFill>
                <a:latin typeface="Apple SD Gothic Neo"/>
                <a:ea typeface="Apple SD Gothic Neo"/>
                <a:cs typeface="Apple SD Gothic Neo"/>
              </a:rPr>
              <a:t>24시간  0.803</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b="1">
                <a:solidFill>
                  <a:srgbClr val="BCEF59"/>
                </a:solidFill>
                <a:latin typeface="Apple SD Gothic Neo"/>
                <a:ea typeface="Apple SD Gothic Neo"/>
                <a:cs typeface="Apple SD Gothic Neo"/>
              </a:rPr>
              <a:t>168시간  0.820</a:t>
            </a:r>
          </a:p>
        </p:txBody>
      </p:sp>
    </p:spTree>
    <p:extLst>
      <p:ext uri="{BB962C8B-B14F-4D97-AF65-F5344CB8AC3E}">
        <p14:creationId xmlns:p14="http://schemas.microsoft.com/office/powerpoint/2010/main" val="139345699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2" name="Rounded Rectangle 11">
            <a:extLst xmlns:a="http://schemas.openxmlformats.org/drawingml/2006/main">
              <a:ext uri="{FF2B5EF4-FFF2-40B4-BE49-F238E27FC236}">
                <a16:creationId xmlns:a16="http://schemas.microsoft.com/office/drawing/2014/main" id="{86FC0B29-995A-397B-C2F3-07F01F976246}"/>
              </a:ext>
            </a:extLst>
          </p:cNvPr>
          <p:cNvSpPr>
            <a:spLocks xmlns:a="http://schemas.openxmlformats.org/drawingml/2006/main" noGrp="1"/>
          </p:cNvSpPr>
          <p:nvPr/>
        </p:nvSpPr>
        <p:spPr>
          <a:xfrm xmlns:a="http://schemas.openxmlformats.org/drawingml/2006/main">
            <a:off x="7833152" y="2134181"/>
            <a:ext cx="3568700" cy="3709944"/>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7</a:t>
            </a: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pPr>
              <a:buNone/>
            </a:pPr>
            <a:r>
              <a:rPr>
                <a:latin typeface="Apple SD Gothic Neo"/>
                <a:ea typeface="Apple SD Gothic Neo"/>
                <a:cs typeface="Apple SD Gothic Neo"/>
              </a:rPr>
              <a:t>시간순 분할과 독립 구간 보정</a:t>
            </a:r>
          </a:p>
        </p:txBody>
      </p:sp>
      <p:cxnSp>
        <p:nvCxnSpPr>
          <p:cNvPr id="24"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12700" cap="flat">
            <a:solidFill>
              <a:srgbClr val="BCEF59"/>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b="1">
                <a:solidFill>
                  <a:srgbClr val="BCEF59"/>
                </a:solidFill>
                <a:latin typeface="Apple SD Gothic Neo"/>
                <a:ea typeface="Apple SD Gothic Neo"/>
                <a:cs typeface="Apple SD Gothic Neo"/>
              </a:rPr>
              <a:t>학습 6,132시간</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b="1">
                <a:solidFill>
                  <a:srgbClr val="BCEF59"/>
                </a:solidFill>
                <a:latin typeface="Apple SD Gothic Neo"/>
                <a:ea typeface="Apple SD Gothic Neo"/>
                <a:cs typeface="Apple SD Gothic Neo"/>
              </a:rPr>
              <a:t>검증·보정</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b="1">
                <a:solidFill>
                  <a:srgbClr val="BCEF59"/>
                </a:solidFill>
                <a:latin typeface="Apple SD Gothic Neo"/>
                <a:ea typeface="Apple SD Gothic Neo"/>
                <a:cs typeface="Apple SD Gothic Neo"/>
              </a:rPr>
              <a:t>테스트 1,314시간</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모델 선택·구간 폭</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검증 876시간: epoch·seed</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보정 438시간: 오차 분위수</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학습·평가와 분리한다.</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가중치와 표준화</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학습 자료로만 추정한다.</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최근 24시간 입력으로</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다음 1시간 수요를 예측한다.</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겨울 중심 평가</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11월 7일~1월 1일 00시</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매 시간 직전 관측으로 상태 갱신</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여름 피크 성능은 검증하지 못한다.</a:t>
            </a:r>
          </a:p>
        </p:txBody>
      </p:sp>
    </p:spTree>
    <p:extLst>
      <p:ext uri="{BB962C8B-B14F-4D97-AF65-F5344CB8AC3E}">
        <p14:creationId xmlns:p14="http://schemas.microsoft.com/office/powerpoint/2010/main" val="344633891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8</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pPr>
              <a:buNone/>
            </a:pPr>
            <a:r>
              <a:rPr>
                <a:latin typeface="Apple SD Gothic Neo"/>
                <a:ea typeface="Apple SD Gothic Neo"/>
                <a:cs typeface="Apple SD Gothic Neo"/>
              </a:rPr>
              <a:t>전처리와 누출 방지</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a:solidFill>
                  <a:srgbClr val="BCEF59"/>
                </a:solidFill>
                <a:latin typeface="Apple SD Gothic Neo"/>
                <a:ea typeface="Apple SD Gothic Neo"/>
                <a:cs typeface="Apple SD Gothic Neo"/>
              </a:rPr>
              <a:t>시간 정렬</a:t>
            </a:r>
          </a:p>
          <a:p xmlns:a="http://schemas.openxmlformats.org/drawingml/2006/main">
            <a:pPr marL="0" marR="0" lvl="0" indent="0">
              <a:lnSpc>
                <a:spcPct val="114000"/>
              </a:lnSpc>
              <a:spcBef>
                <a:spcPts val="0"/>
              </a:spcBef>
              <a:spcAft>
                <a:spcPts val="800"/>
              </a:spcAft>
              <a:buClrTx/>
              <a:buSzTx/>
              <a:buNone/>
            </a:pPr>
            <a:r>
              <a:rPr sz="1800">
                <a:solidFill>
                  <a:srgbClr val="BCEF59"/>
                </a:solidFill>
                <a:latin typeface="Apple SD Gothic Neo"/>
                <a:ea typeface="Apple SD Gothic Neo"/>
                <a:cs typeface="Apple SD Gothic Neo"/>
              </a:rPr>
              <a:t>1~24시 표기를 시간축으로 변환한다.</a:t>
            </a:r>
          </a:p>
          <a:p xmlns:a="http://schemas.openxmlformats.org/drawingml/2006/main">
            <a:pPr marL="0" marR="0" lvl="0" indent="0">
              <a:lnSpc>
                <a:spcPct val="114000"/>
              </a:lnSpc>
              <a:spcBef>
                <a:spcPts val="0"/>
              </a:spcBef>
              <a:spcAft>
                <a:spcPts val="800"/>
              </a:spcAft>
              <a:buClrTx/>
              <a:buSzTx/>
              <a:buNone/>
            </a:pPr>
            <a:r>
              <a:rPr sz="1800">
                <a:solidFill>
                  <a:srgbClr val="BCEF59"/>
                </a:solidFill>
                <a:latin typeface="Apple SD Gothic Neo"/>
                <a:ea typeface="Apple SD Gothic Neo"/>
                <a:cs typeface="Apple SD Gothic Neo"/>
              </a:rPr>
              <a:t>24시는 다음 날짜 00시로 해석한다.</a:t>
            </a:r>
          </a:p>
          <a:p xmlns:a="http://schemas.openxmlformats.org/drawingml/2006/main">
            <a:pPr marL="0" marR="0" lvl="0" indent="0">
              <a:lnSpc>
                <a:spcPct val="114000"/>
              </a:lnSpc>
              <a:spcBef>
                <a:spcPts val="0"/>
              </a:spcBef>
              <a:spcAft>
                <a:spcPts val="800"/>
              </a:spcAft>
              <a:buClrTx/>
              <a:buSzTx/>
              <a:buNone/>
            </a:pPr>
            <a:r>
              <a:rPr sz="1800">
                <a:solidFill>
                  <a:srgbClr val="BCEF59"/>
                </a:solidFill>
                <a:latin typeface="Apple SD Gothic Neo"/>
                <a:ea typeface="Apple SD Gothic Neo"/>
                <a:cs typeface="Apple SD Gothic Neo"/>
              </a:rPr>
              <a:t>목표 수요는 원본 값을 보존한다.</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a:solidFill>
                  <a:srgbClr val="BCEF59"/>
                </a:solidFill>
                <a:latin typeface="Apple SD Gothic Neo"/>
                <a:ea typeface="Apple SD Gothic Neo"/>
                <a:cs typeface="Apple SD Gothic Neo"/>
              </a:rPr>
              <a:t>결측치 처리</a:t>
            </a:r>
          </a:p>
          <a:p xmlns:a="http://schemas.openxmlformats.org/drawingml/2006/main">
            <a:pPr marL="0" marR="0" lvl="0" indent="0">
              <a:lnSpc>
                <a:spcPct val="114000"/>
              </a:lnSpc>
              <a:spcBef>
                <a:spcPts val="0"/>
              </a:spcBef>
              <a:spcAft>
                <a:spcPts val="800"/>
              </a:spcAft>
              <a:buClrTx/>
              <a:buSzTx/>
              <a:buNone/>
            </a:pPr>
            <a:r>
              <a:rPr sz="1800">
                <a:solidFill>
                  <a:srgbClr val="BCEF59"/>
                </a:solidFill>
                <a:latin typeface="Apple SD Gothic Neo"/>
                <a:ea typeface="Apple SD Gothic Neo"/>
                <a:cs typeface="Apple SD Gothic Neo"/>
              </a:rPr>
              <a:t>연속형 변수는 과거 값으로 채운다.</a:t>
            </a:r>
          </a:p>
          <a:p xmlns:a="http://schemas.openxmlformats.org/drawingml/2006/main">
            <a:pPr marL="0" marR="0" lvl="0" indent="0">
              <a:lnSpc>
                <a:spcPct val="114000"/>
              </a:lnSpc>
              <a:spcBef>
                <a:spcPts val="0"/>
              </a:spcBef>
              <a:spcAft>
                <a:spcPts val="800"/>
              </a:spcAft>
              <a:buClrTx/>
              <a:buSzTx/>
              <a:buNone/>
            </a:pPr>
            <a:r>
              <a:rPr sz="1800">
                <a:solidFill>
                  <a:srgbClr val="BCEF59"/>
                </a:solidFill>
                <a:latin typeface="Apple SD Gothic Neo"/>
                <a:ea typeface="Apple SD Gothic Neo"/>
                <a:cs typeface="Apple SD Gothic Neo"/>
              </a:rPr>
              <a:t>강수·일조·일사 빈칸은 0으로 가정한다.</a:t>
            </a:r>
          </a:p>
          <a:p xmlns:a="http://schemas.openxmlformats.org/drawingml/2006/main">
            <a:pPr marL="0" marR="0" lvl="0" indent="0">
              <a:lnSpc>
                <a:spcPct val="114000"/>
              </a:lnSpc>
              <a:spcBef>
                <a:spcPts val="0"/>
              </a:spcBef>
              <a:spcAft>
                <a:spcPts val="800"/>
              </a:spcAft>
              <a:buClrTx/>
              <a:buSzTx/>
              <a:buNone/>
            </a:pPr>
            <a:r>
              <a:rPr sz="1800">
                <a:solidFill>
                  <a:srgbClr val="BCEF59"/>
                </a:solidFill>
                <a:latin typeface="Apple SD Gothic Neo"/>
                <a:ea typeface="Apple SD Gothic Neo"/>
                <a:cs typeface="Apple SD Gothic Neo"/>
              </a:rPr>
              <a:t>원래 결측 여부를 입력으로 남긴다.</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a:solidFill>
                  <a:srgbClr val="BCEF59"/>
                </a:solidFill>
                <a:latin typeface="Apple SD Gothic Neo"/>
                <a:ea typeface="Apple SD Gothic Neo"/>
                <a:cs typeface="Apple SD Gothic Neo"/>
              </a:rPr>
              <a:t>학습과 평가 분리</a:t>
            </a:r>
          </a:p>
          <a:p xmlns:a="http://schemas.openxmlformats.org/drawingml/2006/main">
            <a:pPr marL="0" indent="0">
              <a:lnSpc>
                <a:spcPct val="114000"/>
              </a:lnSpc>
              <a:spcBef>
                <a:spcPts val="0"/>
              </a:spcBef>
              <a:spcAft>
                <a:spcPts val="800"/>
              </a:spcAft>
              <a:buNone/>
            </a:pPr>
            <a:r>
              <a:rPr sz="1800">
                <a:solidFill>
                  <a:srgbClr val="BCEF59"/>
                </a:solidFill>
                <a:latin typeface="Apple SD Gothic Neo"/>
                <a:ea typeface="Apple SD Gothic Neo"/>
                <a:cs typeface="Apple SD Gothic Neo"/>
              </a:rPr>
              <a:t>표준화는 학습 구간만 사용한다.</a:t>
            </a:r>
          </a:p>
          <a:p xmlns:a="http://schemas.openxmlformats.org/drawingml/2006/main">
            <a:pPr marL="0" indent="0">
              <a:lnSpc>
                <a:spcPct val="114000"/>
              </a:lnSpc>
              <a:spcBef>
                <a:spcPts val="0"/>
              </a:spcBef>
              <a:spcAft>
                <a:spcPts val="800"/>
              </a:spcAft>
              <a:buNone/>
            </a:pPr>
            <a:r>
              <a:rPr sz="1800">
                <a:solidFill>
                  <a:srgbClr val="BCEF59"/>
                </a:solidFill>
                <a:latin typeface="Apple SD Gothic Neo"/>
                <a:ea typeface="Apple SD Gothic Neo"/>
                <a:cs typeface="Apple SD Gothic Neo"/>
              </a:rPr>
              <a:t>미래 날씨 실측과 미래 수요를 입력하지 않는다.</a:t>
            </a:r>
          </a:p>
          <a:p xmlns:a="http://schemas.openxmlformats.org/drawingml/2006/main">
            <a:pPr marL="0" indent="0">
              <a:lnSpc>
                <a:spcPct val="114000"/>
              </a:lnSpc>
              <a:spcBef>
                <a:spcPts val="0"/>
              </a:spcBef>
              <a:spcAft>
                <a:spcPts val="800"/>
              </a:spcAft>
              <a:buNone/>
            </a:pPr>
            <a:r>
              <a:rPr sz="1800">
                <a:solidFill>
                  <a:srgbClr val="BCEF59"/>
                </a:solidFill>
                <a:latin typeface="Apple SD Gothic Neo"/>
                <a:ea typeface="Apple SD Gothic Neo"/>
                <a:cs typeface="Apple SD Gothic Neo"/>
              </a:rPr>
              <a:t>관측 제공 지연은 다루지 않는다.</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800">
                <a:solidFill>
                  <a:srgbClr val="BCEF59"/>
                </a:solidFill>
                <a:latin typeface="Apple SD Gothic Neo"/>
                <a:ea typeface="Apple SD Gothic Neo"/>
                <a:cs typeface="Apple SD Gothic Neo"/>
              </a:rPr>
              <a:t>이상치와 불균형</a:t>
            </a:r>
          </a:p>
          <a:p xmlns:a="http://schemas.openxmlformats.org/drawingml/2006/main">
            <a:pPr marL="0" indent="0">
              <a:lnSpc>
                <a:spcPct val="114000"/>
              </a:lnSpc>
              <a:spcBef>
                <a:spcPts val="0"/>
              </a:spcBef>
              <a:spcAft>
                <a:spcPts val="800"/>
              </a:spcAft>
              <a:buNone/>
            </a:pPr>
            <a:r>
              <a:rPr sz="1800">
                <a:solidFill>
                  <a:srgbClr val="BCEF59"/>
                </a:solidFill>
                <a:latin typeface="Apple SD Gothic Neo"/>
                <a:ea typeface="Apple SD Gothic Neo"/>
                <a:cs typeface="Apple SD Gothic Neo"/>
              </a:rPr>
              <a:t>IQR 후보 8개는 삭제하지 않는다.</a:t>
            </a:r>
          </a:p>
          <a:p xmlns:a="http://schemas.openxmlformats.org/drawingml/2006/main">
            <a:pPr marL="0" indent="0">
              <a:lnSpc>
                <a:spcPct val="114000"/>
              </a:lnSpc>
              <a:spcBef>
                <a:spcPts val="0"/>
              </a:spcBef>
              <a:spcAft>
                <a:spcPts val="800"/>
              </a:spcAft>
              <a:buNone/>
            </a:pPr>
            <a:r>
              <a:rPr sz="1800">
                <a:solidFill>
                  <a:srgbClr val="BCEF59"/>
                </a:solidFill>
                <a:latin typeface="Apple SD Gothic Neo"/>
                <a:ea typeface="Apple SD Gothic Neo"/>
                <a:cs typeface="Apple SD Gothic Neo"/>
              </a:rPr>
              <a:t>수요 급등도 예측해야 할 대상이다.</a:t>
            </a:r>
          </a:p>
          <a:p xmlns:a="http://schemas.openxmlformats.org/drawingml/2006/main">
            <a:pPr marL="0" indent="0">
              <a:lnSpc>
                <a:spcPct val="114000"/>
              </a:lnSpc>
              <a:spcBef>
                <a:spcPts val="0"/>
              </a:spcBef>
              <a:spcAft>
                <a:spcPts val="800"/>
              </a:spcAft>
              <a:buNone/>
            </a:pPr>
            <a:r>
              <a:rPr sz="1800">
                <a:solidFill>
                  <a:srgbClr val="BCEF59"/>
                </a:solidFill>
                <a:latin typeface="Apple SD Gothic Neo"/>
                <a:ea typeface="Apple SD Gothic Neo"/>
                <a:cs typeface="Apple SD Gothic Neo"/>
              </a:rPr>
              <a:t>회귀 문제로 클래스 보정은 해당하지 않는다.</a:t>
            </a:r>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9</a:t>
            </a:r>
          </a:p>
        </p:txBody>
      </p:sp>
      <p:sp>
        <p:nvSpPr>
          <p:cNvPr id="533" name="Google Shape;533;p58">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LSTM: 과거 정보를 유지하며 변화량 예측</a:t>
            </a:r>
          </a:p>
        </p:txBody>
      </p:sp>
      <p:sp>
        <p:nvSpPr>
          <p:cNvPr id="534" name="Google Shape;534;p58">
            <a:extLst xmlns:a="http://schemas.openxmlformats.org/drawingml/2006/main">
              <a:ext uri="{FF2B5EF4-FFF2-40B4-BE49-F238E27FC236}">
                <a16:creationId xmlns:a16="http://schemas.microsoft.com/office/drawing/2014/main" id="{92B9D060-8F6B-685E-C699-7CF3FDA228BA}"/>
              </a:ext>
            </a:extLst>
          </p:cNvPr>
          <p:cNvSpPr>
            <a:spLocks xmlns:a="http://schemas.openxmlformats.org/drawingml/2006/main" noGrp="1"/>
          </p:cNvSpPr>
          <p:nvPr>
            <p:ph idx="4294967295"/>
          </p:nvPr>
        </p:nvSpPr>
        <p:spPr>
          <a:xfrm xmlns:a="http://schemas.openxmlformats.org/drawingml/2006/main">
            <a:off x="390388" y="1797928"/>
            <a:ext cx="5537200" cy="8651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a:latin typeface="Apple SD Gothic Neo"/>
                <a:ea typeface="Apple SD Gothic Neo"/>
                <a:cs typeface="Apple SD Gothic Neo"/>
              </a:rPr>
              <a:t>게이트로 필요한 과거 정보를 유지한다</a:t>
            </a:r>
          </a:p>
        </p:txBody>
      </p:sp>
      <p:sp>
        <p:nvSpPr>
          <p:cNvPr id="12" name="TextBox 11">
            <a:extLst xmlns:a="http://schemas.openxmlformats.org/drawingml/2006/main">
              <a:ext uri="{FF2B5EF4-FFF2-40B4-BE49-F238E27FC236}">
                <a16:creationId xmlns:a16="http://schemas.microsoft.com/office/drawing/2014/main" id="{70BD0609-EAC0-DFEC-8761-6C5A72DB268A}"/>
              </a:ext>
            </a:extLst>
          </p:cNvPr>
          <p:cNvSpPr>
            <a:spLocks xmlns:a="http://schemas.openxmlformats.org/drawingml/2006/main" noGrp="1"/>
          </p:cNvSpPr>
          <p:nvPr/>
        </p:nvSpPr>
        <p:spPr>
          <a:xfrm xmlns:a="http://schemas.openxmlformats.org/drawingml/2006/main">
            <a:off x="390388" y="3065806"/>
            <a:ext cx="4774279" cy="206088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Apple SD Gothic Neo"/>
                <a:ea typeface="Apple SD Gothic Neo"/>
                <a:cs typeface="Apple SD Gothic Neo"/>
              </a:rPr>
              <a:t>입력·망각·출력 게이트가 셀 상태를 갱신한다.</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Apple SD Gothic Neo"/>
                <a:ea typeface="Apple SD Gothic Neo"/>
                <a:cs typeface="Apple SD Gothic Neo"/>
              </a:rPr>
              <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Apple SD Gothic Neo"/>
                <a:ea typeface="Apple SD Gothic Neo"/>
                <a:cs typeface="Apple SD Gothic Neo"/>
              </a:rPr>
              <a:t>최근 24시간을 입력하고 마지막 hidden state로 변화량을 예측한다.</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Apple SD Gothic Neo"/>
                <a:ea typeface="Apple SD Gothic Neo"/>
                <a:cs typeface="Apple SD Gothic Neo"/>
              </a:rPr>
              <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Apple SD Gothic Neo"/>
                <a:ea typeface="Apple SD Gothic Neo"/>
                <a:cs typeface="Apple SD Gothic Neo"/>
              </a:rPr>
              <a:t>예측 수요 = 직전 수요 + 예측 변화량</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Apple SD Gothic Neo"/>
                <a:ea typeface="Apple SD Gothic Neo"/>
                <a:cs typeface="Apple SD Gothic Neo"/>
              </a:rPr>
              <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Apple SD Gothic Neo"/>
                <a:ea typeface="Apple SD Gothic Neo"/>
                <a:cs typeface="Apple SD Gothic Neo"/>
              </a:rPr>
              <a:t>강한 단기 지속성을 기본값으로 활용한다.</a:t>
            </a:r>
          </a:p>
        </p:txBody>
      </p:sp>
      <p:sp>
        <p:nvSpPr>
          <p:cNvPr id="5" name="Rounded Rectangle 4">
            <a:extLst xmlns:a="http://schemas.openxmlformats.org/drawingml/2006/main">
              <a:ext uri="{FF2B5EF4-FFF2-40B4-BE49-F238E27FC236}">
                <a16:creationId xmlns:a16="http://schemas.microsoft.com/office/drawing/2014/main" id="{1D611070-583D-3F58-C192-8939D876E8A5}"/>
              </a:ext>
            </a:extLst>
          </p:cNvPr>
          <p:cNvSpPr>
            <a:spLocks xmlns:a="http://schemas.openxmlformats.org/drawingml/2006/main" noGrp="1"/>
          </p:cNvSpPr>
          <p:nvPr/>
        </p:nvSpPr>
        <p:spPr>
          <a:xfrm xmlns:a="http://schemas.openxmlformats.org/drawingml/2006/main">
            <a:off x="6264413" y="172243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tent Placeholder 10">
            <a:extLst xmlns:a="http://schemas.openxmlformats.org/drawingml/2006/main">
              <a:ext uri="{FF2B5EF4-FFF2-40B4-BE49-F238E27FC236}">
                <a16:creationId xmlns:a16="http://schemas.microsoft.com/office/drawing/2014/main" id="{176A6DA9-A945-2CB8-E1DA-17DA3035FD4C}"/>
              </a:ext>
            </a:extLst>
          </p:cNvPr>
          <p:cNvSpPr>
            <a:spLocks xmlns:a="http://schemas.openxmlformats.org/drawingml/2006/main" noGrp="1"/>
          </p:cNvSpPr>
          <p:nvPr/>
        </p:nvSpPr>
        <p:spPr>
          <a:xfrm xmlns:a="http://schemas.openxmlformats.org/drawingml/2006/main">
            <a:off x="6561648" y="2017370"/>
            <a:ext cx="4986886" cy="1048436"/>
          </a:xfrm>
          <a:prstGeom xmlns:a="http://schemas.openxmlformats.org/drawingml/2006/main" prst="rect">
            <a:avLst/>
          </a:prstGeom>
        </p:spPr>
        <p:txBody>
          <a:bodyPr xmlns:a="http://schemas.openxmlformats.org/drawingml/2006/main" vert="horz" lIns="0" tIns="0" rIns="0" bIns="0">
            <a:normAutofit fontScale="92500" lnSpcReduction="2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latin typeface="Apple SD Gothic Neo"/>
                <a:ea typeface="Apple SD Gothic Neo"/>
                <a:cs typeface="Apple SD Gothic Neo"/>
              </a:rPr>
              <a:t>작은 모델로 시작</a:t>
            </a:r>
          </a:p>
          <a:p xmlns:a="http://schemas.openxmlformats.org/drawingml/2006/main">
            <a:pPr marL="0" indent="0">
              <a:lnSpc>
                <a:spcPct val="110000"/>
              </a:lnSpc>
              <a:spcBef>
                <a:spcPts val="0"/>
              </a:spcBef>
              <a:buFontTx/>
              <a:buNone/>
            </a:pPr>
            <a:r>
              <a:rPr sz="1800">
                <a:latin typeface="Apple SD Gothic Neo"/>
                <a:ea typeface="Apple SD Gothic Neo"/>
                <a:cs typeface="Apple SD Gothic Neo"/>
              </a:rPr>
              <a:t>1층, hidden 32</a:t>
            </a:r>
          </a:p>
          <a:p xmlns:a="http://schemas.openxmlformats.org/drawingml/2006/main">
            <a:pPr marL="0" indent="0">
              <a:lnSpc>
                <a:spcPct val="110000"/>
              </a:lnSpc>
              <a:spcBef>
                <a:spcPts val="0"/>
              </a:spcBef>
              <a:buFontTx/>
              <a:buNone/>
            </a:pPr>
            <a:r>
              <a:rPr sz="1800">
                <a:latin typeface="Apple SD Gothic Neo"/>
                <a:ea typeface="Apple SD Gothic Neo"/>
                <a:cs typeface="Apple SD Gothic Neo"/>
              </a:rPr>
              <a:t>예측 헤드 32 → 16 → 1</a:t>
            </a:r>
          </a:p>
          <a:p xmlns:a="http://schemas.openxmlformats.org/drawingml/2006/main">
            <a:pPr marL="0" indent="0">
              <a:lnSpc>
                <a:spcPct val="110000"/>
              </a:lnSpc>
              <a:spcBef>
                <a:spcPts val="0"/>
              </a:spcBef>
              <a:buFontTx/>
              <a:buNone/>
            </a:pPr>
            <a:r>
              <a:rPr sz="1800">
                <a:latin typeface="Apple SD Gothic Neo"/>
                <a:ea typeface="Apple SD Gothic Neo"/>
                <a:cs typeface="Apple SD Gothic Neo"/>
              </a:rPr>
              <a:t>표준화 수요 공간에서 MSE 학습</a:t>
            </a:r>
          </a:p>
        </p:txBody>
      </p:sp>
      <p:sp>
        <p:nvSpPr>
          <p:cNvPr id="7" name="Rounded Rectangle 6">
            <a:extLst xmlns:a="http://schemas.openxmlformats.org/drawingml/2006/main">
              <a:ext uri="{FF2B5EF4-FFF2-40B4-BE49-F238E27FC236}">
                <a16:creationId xmlns:a16="http://schemas.microsoft.com/office/drawing/2014/main" id="{7A99370F-1C2A-C7A9-A2D7-8EC8D6F73423}"/>
              </a:ext>
            </a:extLst>
          </p:cNvPr>
          <p:cNvSpPr>
            <a:spLocks xmlns:a="http://schemas.openxmlformats.org/drawingml/2006/main" noGrp="1"/>
          </p:cNvSpPr>
          <p:nvPr/>
        </p:nvSpPr>
        <p:spPr>
          <a:xfrm xmlns:a="http://schemas.openxmlformats.org/drawingml/2006/main">
            <a:off x="6264413" y="3734118"/>
            <a:ext cx="5533887" cy="16383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Content Placeholder 10">
            <a:extLst xmlns:a="http://schemas.openxmlformats.org/drawingml/2006/main">
              <a:ext uri="{FF2B5EF4-FFF2-40B4-BE49-F238E27FC236}">
                <a16:creationId xmlns:a16="http://schemas.microsoft.com/office/drawing/2014/main" id="{5BB779E3-29A4-71DB-4059-EE4248BE7003}"/>
              </a:ext>
            </a:extLst>
          </p:cNvPr>
          <p:cNvSpPr>
            <a:spLocks xmlns:a="http://schemas.openxmlformats.org/drawingml/2006/main" noGrp="1"/>
          </p:cNvSpPr>
          <p:nvPr/>
        </p:nvSpPr>
        <p:spPr>
          <a:xfrm xmlns:a="http://schemas.openxmlformats.org/drawingml/2006/main">
            <a:off x="6561648" y="4029050"/>
            <a:ext cx="4986886" cy="1048436"/>
          </a:xfrm>
          <a:prstGeom xmlns:a="http://schemas.openxmlformats.org/drawingml/2006/main" prst="rect">
            <a:avLst/>
          </a:prstGeom>
        </p:spPr>
        <p:txBody>
          <a:bodyPr xmlns:a="http://schemas.openxmlformats.org/drawingml/2006/main" vert="horz" lIns="0" tIns="0" rIns="0" bIns="0">
            <a:normAutofit fontScale="92500" lnSpcReduction="2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pPr>
            <a:r>
              <a:rPr sz="1800">
                <a:latin typeface="Apple SD Gothic Neo"/>
                <a:ea typeface="Apple SD Gothic Neo"/>
                <a:cs typeface="Apple SD Gothic Neo"/>
              </a:rPr>
              <a:t>날씨 입력 비교</a:t>
            </a:r>
          </a:p>
          <a:p xmlns:a="http://schemas.openxmlformats.org/drawingml/2006/main">
            <a:pPr marL="0" indent="0">
              <a:lnSpc>
                <a:spcPct val="110000"/>
              </a:lnSpc>
              <a:spcBef>
                <a:spcPts val="0"/>
              </a:spcBef>
              <a:buFontTx/>
              <a:buNone/>
            </a:pPr>
            <a:r>
              <a:rPr sz="1800">
                <a:latin typeface="Apple SD Gothic Neo"/>
                <a:ea typeface="Apple SD Gothic Neo"/>
                <a:cs typeface="Apple SD Gothic Neo"/>
              </a:rPr>
              <a:t>수요·달력만 사용한 LSTM도 학습한다.</a:t>
            </a:r>
          </a:p>
          <a:p xmlns:a="http://schemas.openxmlformats.org/drawingml/2006/main">
            <a:pPr marL="0" indent="0">
              <a:lnSpc>
                <a:spcPct val="110000"/>
              </a:lnSpc>
              <a:spcBef>
                <a:spcPts val="0"/>
              </a:spcBef>
              <a:buFontTx/>
              <a:buNone/>
            </a:pPr>
            <a:r>
              <a:rPr sz="1800">
                <a:latin typeface="Apple SD Gothic Neo"/>
                <a:ea typeface="Apple SD Gothic Neo"/>
                <a:cs typeface="Apple SD Gothic Neo"/>
              </a:rPr>
              <a:t>입력 차원과 파라미터 수가 달라</a:t>
            </a:r>
          </a:p>
          <a:p xmlns:a="http://schemas.openxmlformats.org/drawingml/2006/main">
            <a:pPr marL="0" indent="0">
              <a:lnSpc>
                <a:spcPct val="110000"/>
              </a:lnSpc>
              <a:spcBef>
                <a:spcPts val="0"/>
              </a:spcBef>
              <a:buFontTx/>
              <a:buNone/>
            </a:pPr>
            <a:r>
              <a:rPr sz="1800">
                <a:latin typeface="Apple SD Gothic Neo"/>
                <a:ea typeface="Apple SD Gothic Neo"/>
                <a:cs typeface="Apple SD Gothic Neo"/>
              </a:rPr>
              <a:t>날씨의 인과효과로 해석하지 않는다.</a:t>
            </a:r>
          </a:p>
        </p:txBody>
      </p:sp>
    </p:spTree>
    <p:extLst>
      <p:ext uri="{BB962C8B-B14F-4D97-AF65-F5344CB8AC3E}">
        <p14:creationId xmlns:p14="http://schemas.microsoft.com/office/powerpoint/2010/main" val="333187913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10</a:t>
            </a: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Transformer: 입력 시점 간 관계 학습</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925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800">
                <a:latin typeface="Apple SD Gothic Neo"/>
                <a:ea typeface="Apple SD Gothic Neo"/>
                <a:cs typeface="Apple SD Gothic Neo"/>
              </a:rPr>
              <a:t>32차원 투영과 학습 가능한 위치 임베딩으로 시간 순서를 구분한다.</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800">
                <a:solidFill>
                  <a:srgbClr val="BCEF59"/>
                </a:solidFill>
                <a:latin typeface="Apple SD Gothic Neo"/>
                <a:ea typeface="Apple SD Gothic Neo"/>
                <a:cs typeface="Apple SD Gothic Neo"/>
              </a:rPr>
              <a:t>입력과 위치</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925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800">
                <a:latin typeface="Apple SD Gothic Neo"/>
                <a:ea typeface="Apple SD Gothic Neo"/>
                <a:cs typeface="Apple SD Gothic Neo"/>
              </a:rPr>
              <a:t>4개 head가 입력 시점 간 관계를 학습한다. Encoder는 1층이다.</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800">
                <a:solidFill>
                  <a:srgbClr val="BCEF59"/>
                </a:solidFill>
                <a:latin typeface="Apple SD Gothic Neo"/>
                <a:ea typeface="Apple SD Gothic Neo"/>
                <a:cs typeface="Apple SD Gothic Neo"/>
              </a:rPr>
              <a:t>Attention</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925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800">
                <a:latin typeface="Apple SD Gothic Neo"/>
                <a:ea typeface="Apple SD Gothic Neo"/>
                <a:cs typeface="Apple SD Gothic Neo"/>
              </a:rPr>
              <a:t>FFN 64차원, dropout 0.1을 사용한다. 작은 데이터 규모를 고려했다.</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800">
                <a:solidFill>
                  <a:srgbClr val="BCEF59"/>
                </a:solidFill>
                <a:latin typeface="Apple SD Gothic Neo"/>
                <a:ea typeface="Apple SD Gothic Neo"/>
                <a:cs typeface="Apple SD Gothic Neo"/>
              </a:rPr>
              <a:t>비선형 변환</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925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800">
                <a:latin typeface="Apple SD Gothic Neo"/>
                <a:ea typeface="Apple SD Gothic Neo"/>
                <a:cs typeface="Apple SD Gothic Neo"/>
              </a:rPr>
              <a:t>LSTM과 동일하게 직전 수요에 예측 변화량을 더한다.</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800">
                <a:solidFill>
                  <a:srgbClr val="BCEF59"/>
                </a:solidFill>
                <a:latin typeface="Apple SD Gothic Neo"/>
                <a:ea typeface="Apple SD Gothic Neo"/>
                <a:cs typeface="Apple SD Gothic Neo"/>
              </a:rPr>
              <a:t>수요 변화량</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과거 24시간의 관계를 self-attention으로 학습한다.</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모든 입력은 예측 시점 이전 관측이다.</a:t>
            </a:r>
          </a:p>
          <a:p xmlns:a="http://schemas.openxmlformats.org/drawingml/2006/main">
            <a:pPr marL="0" indent="0">
              <a:lnSpc>
                <a:spcPct val="114000"/>
              </a:lnSpc>
              <a:spcBef>
                <a:spcPts val="0"/>
              </a:spcBef>
              <a:spcAft>
                <a:spcPts val="800"/>
              </a:spcAft>
              <a:buFont typeface="Arial"/>
              <a:buNone/>
            </a:pPr>
            <a:r>
              <a:rPr sz="1800">
                <a:latin typeface="Apple SD Gothic Neo"/>
                <a:ea typeface="Apple SD Gothic Neo"/>
                <a:cs typeface="Apple SD Gothic Neo"/>
              </a:rPr>
              <a:t>입력 창 내부의 양방향 attention은 미래 목표값을 보지 않는다.</a:t>
            </a:r>
          </a:p>
        </p:txBody>
      </p:sp>
    </p:spTree>
    <p:extLst>
      <p:ext uri="{BB962C8B-B14F-4D97-AF65-F5344CB8AC3E}">
        <p14:creationId xmlns:p14="http://schemas.microsoft.com/office/powerpoint/2010/main" val="67611695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11</a:t>
            </a: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학습 설정과 모델 선택</a:t>
            </a:r>
          </a:p>
        </p:txBody>
      </p:sp>
      <p:graphicFrame>
        <p:nvGraphicFramePr>
          <p:cNvPr id="538" name=""/>
          <p:cNvGraphicFramePr/>
          <p:nvPr/>
        </p:nvGraphicFramePr>
        <p:xfrm>
          <a:off xmlns:a="http://schemas.openxmlformats.org/drawingml/2006/main" x="400050" y="1619250"/>
          <a:ext xmlns:a="http://schemas.openxmlformats.org/drawingml/2006/main" cx="11391900" cy="4095750"/>
        </p:xfrm>
        <a:graphic xmlns:a="http://schemas.openxmlformats.org/drawingml/2006/main">
          <a:graphicData uri="http://schemas.openxmlformats.org/drawingml/2006/table">
            <a:tbl>
              <a:tblPr/>
              <a:tblGrid>
                <a:gridCol w="2857500"/>
                <a:gridCol w="8534400"/>
              </a:tblGrid>
              <a:tr h="585107">
                <a:tc>
                  <a:txBody>
                    <a:bodyPr/>
                    <a:lstStyle/>
                    <a:p>
                      <a:r>
                        <a:rPr sz="1725" b="1">
                          <a:solidFill>
                            <a:srgbClr val="B9ED4C"/>
                          </a:solidFill>
                          <a:latin typeface="Apple SD Gothic Neo"/>
                          <a:ea typeface="Apple SD Gothic Neo"/>
                          <a:cs typeface="Apple SD Gothic Neo"/>
                        </a:rPr>
                        <a:t>항목</a:t>
                      </a:r>
                    </a:p>
                  </a:txBody>
                  <a:tcPr marL="91440" marR="91440" marT="45720" marB="45720">
                    <a:solidFill>
                      <a:srgbClr val="264B3A"/>
                    </a:solidFill>
                  </a:tcPr>
                </a:tc>
                <a:tc>
                  <a:txBody>
                    <a:bodyPr/>
                    <a:lstStyle/>
                    <a:p>
                      <a:r>
                        <a:rPr sz="1725" b="1">
                          <a:solidFill>
                            <a:srgbClr val="B9ED4C"/>
                          </a:solidFill>
                          <a:latin typeface="Apple SD Gothic Neo"/>
                          <a:ea typeface="Apple SD Gothic Neo"/>
                          <a:cs typeface="Apple SD Gothic Neo"/>
                        </a:rPr>
                        <a:t>설정</a:t>
                      </a:r>
                    </a:p>
                  </a:txBody>
                  <a:tcPr marL="91440" marR="91440" marT="45720" marB="45720">
                    <a:solidFill>
                      <a:srgbClr val="264B3A"/>
                    </a:solidFill>
                  </a:tcPr>
                </a:tc>
              </a:tr>
              <a:tr h="585107">
                <a:tc>
                  <a:txBody>
                    <a:bodyPr/>
                    <a:lstStyle/>
                    <a:p>
                      <a:r>
                        <a:rPr sz="1725" b="0">
                          <a:solidFill>
                            <a:srgbClr val="F8FAF8"/>
                          </a:solidFill>
                          <a:latin typeface="Apple SD Gothic Neo"/>
                          <a:ea typeface="Apple SD Gothic Neo"/>
                          <a:cs typeface="Apple SD Gothic Neo"/>
                        </a:rPr>
                        <a:t>공통 입력·출력</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최근 24시간으로 다음 1시간 예측</a:t>
                      </a:r>
                    </a:p>
                  </a:txBody>
                  <a:tcPr marL="91440" marR="91440" marT="45720" marB="45720">
                    <a:solidFill>
                      <a:srgbClr val="073322"/>
                    </a:solidFill>
                  </a:tcPr>
                </a:tc>
              </a:tr>
              <a:tr h="585107">
                <a:tc>
                  <a:txBody>
                    <a:bodyPr/>
                    <a:lstStyle/>
                    <a:p>
                      <a:r>
                        <a:rPr sz="1725" b="0">
                          <a:solidFill>
                            <a:srgbClr val="F8FAF8"/>
                          </a:solidFill>
                          <a:latin typeface="Apple SD Gothic Neo"/>
                          <a:ea typeface="Apple SD Gothic Neo"/>
                          <a:cs typeface="Apple SD Gothic Neo"/>
                        </a:rPr>
                        <a:t>손실·최적화</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MSE, AdamW, 학습률 0.001, weight decay 0.0001</a:t>
                      </a:r>
                    </a:p>
                  </a:txBody>
                  <a:tcPr marL="91440" marR="91440" marT="45720" marB="45720">
                    <a:solidFill>
                      <a:srgbClr val="123D2C"/>
                    </a:solidFill>
                  </a:tcPr>
                </a:tc>
              </a:tr>
              <a:tr h="585107">
                <a:tc>
                  <a:txBody>
                    <a:bodyPr/>
                    <a:lstStyle/>
                    <a:p>
                      <a:r>
                        <a:rPr sz="1725" b="0">
                          <a:solidFill>
                            <a:srgbClr val="F8FAF8"/>
                          </a:solidFill>
                          <a:latin typeface="Apple SD Gothic Neo"/>
                          <a:ea typeface="Apple SD Gothic Neo"/>
                          <a:cs typeface="Apple SD Gothic Neo"/>
                        </a:rPr>
                        <a:t>학습</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batch 128, 최대 30 epoch, patience 6, gradient clip 1.0</a:t>
                      </a:r>
                    </a:p>
                  </a:txBody>
                  <a:tcPr marL="91440" marR="91440" marT="45720" marB="45720">
                    <a:solidFill>
                      <a:srgbClr val="073322"/>
                    </a:solidFill>
                  </a:tcPr>
                </a:tc>
              </a:tr>
              <a:tr h="585107">
                <a:tc>
                  <a:txBody>
                    <a:bodyPr/>
                    <a:lstStyle/>
                    <a:p>
                      <a:r>
                        <a:rPr sz="1725" b="0">
                          <a:solidFill>
                            <a:srgbClr val="F8FAF8"/>
                          </a:solidFill>
                          <a:latin typeface="Apple SD Gothic Neo"/>
                          <a:ea typeface="Apple SD Gothic Neo"/>
                          <a:cs typeface="Apple SD Gothic Neo"/>
                        </a:rPr>
                        <a:t>반복·선택</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seed 42·7·123, 검증 RMSE 최소 epoch·seed</a:t>
                      </a:r>
                    </a:p>
                  </a:txBody>
                  <a:tcPr marL="91440" marR="91440" marT="45720" marB="45720">
                    <a:solidFill>
                      <a:srgbClr val="123D2C"/>
                    </a:solidFill>
                  </a:tcPr>
                </a:tc>
              </a:tr>
              <a:tr h="585107">
                <a:tc>
                  <a:txBody>
                    <a:bodyPr/>
                    <a:lstStyle/>
                    <a:p>
                      <a:r>
                        <a:rPr sz="1725" b="0">
                          <a:solidFill>
                            <a:srgbClr val="F8FAF8"/>
                          </a:solidFill>
                          <a:latin typeface="Apple SD Gothic Neo"/>
                          <a:ea typeface="Apple SD Gothic Neo"/>
                          <a:cs typeface="Apple SD Gothic Neo"/>
                        </a:rPr>
                        <a:t>LSTM 파라미터</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날씨 포함 16,673 / 수요·달력 5,921</a:t>
                      </a:r>
                    </a:p>
                  </a:txBody>
                  <a:tcPr marL="91440" marR="91440" marT="45720" marB="45720">
                    <a:solidFill>
                      <a:srgbClr val="073322"/>
                    </a:solidFill>
                  </a:tcPr>
                </a:tc>
              </a:tr>
              <a:tr h="585107">
                <a:tc>
                  <a:txBody>
                    <a:bodyPr/>
                    <a:lstStyle/>
                    <a:p>
                      <a:r>
                        <a:rPr sz="1725" b="0">
                          <a:solidFill>
                            <a:srgbClr val="F8FAF8"/>
                          </a:solidFill>
                          <a:latin typeface="Apple SD Gothic Neo"/>
                          <a:ea typeface="Apple SD Gothic Neo"/>
                          <a:cs typeface="Apple SD Gothic Neo"/>
                        </a:rPr>
                        <a:t>Transformer 파라미터</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12,833; d_model 32, head 4, encoder 1층</a:t>
                      </a:r>
                    </a:p>
                  </a:txBody>
                  <a:tcPr marL="91440" marR="91440" marT="45720" marB="45720">
                    <a:solidFill>
                      <a:srgbClr val="123D2C"/>
                    </a:solidFill>
                  </a:tcPr>
                </a:tc>
              </a:tr>
            </a:tbl>
          </a:graphicData>
        </a:graphic>
      </p:graphicFrame>
    </p:spTree>
    <p:extLst>
      <p:ext uri="{BB962C8B-B14F-4D97-AF65-F5344CB8AC3E}">
        <p14:creationId xmlns:p14="http://schemas.microsoft.com/office/powerpoint/2010/main" val="324567077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12</a:t>
            </a: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rPr>
                <a:latin typeface="Apple SD Gothic Neo"/>
                <a:ea typeface="Apple SD Gothic Neo"/>
                <a:cs typeface="Apple SD Gothic Neo"/>
              </a:rPr>
              <a:t>전체 테스트 오차는 SARIMA가 가장 작다</a:t>
            </a: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Apple SD Gothic Neo"/>
                <a:ea typeface="Apple SD Gothic Neo"/>
                <a:cs typeface="Apple SD Gothic Neo"/>
              </a:rPr>
              <a:t>SARIMA</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Apple SD Gothic Neo"/>
                <a:ea typeface="Apple SD Gothic Neo"/>
                <a:cs typeface="Apple SD Gothic Neo"/>
              </a:rPr>
              <a:t>테스트 RMSE (MWh)</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Apple SD Gothic Neo"/>
                <a:ea typeface="Apple SD Gothic Neo"/>
                <a:cs typeface="Apple SD Gothic Neo"/>
              </a:rPr>
              <a:t>Transformer + 날씨</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Apple SD Gothic Neo"/>
                <a:ea typeface="Apple SD Gothic Neo"/>
                <a:cs typeface="Apple SD Gothic Neo"/>
              </a:rPr>
              <a:t>테스트 RMSE (MWh)</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Apple SD Gothic Neo"/>
                <a:ea typeface="Apple SD Gothic Neo"/>
                <a:cs typeface="Apple SD Gothic Neo"/>
              </a:rPr>
              <a:t>LSTM + 날씨</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spc="0">
                <a:ln>
                  <a:noFill/>
                </a:ln>
                <a:latin typeface="Apple SD Gothic Neo"/>
                <a:ea typeface="Apple SD Gothic Neo"/>
                <a:cs typeface="Apple SD Gothic Neo"/>
              </a:rPr>
              <a:t>테스트 RMSE (MWh)</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000" b="0" i="0" u="none" cap="none" spc="0">
                <a:ln>
                  <a:noFill/>
                </a:ln>
                <a:solidFill>
                  <a:srgbClr val="BCEF59"/>
                </a:solidFill>
                <a:latin typeface="Apple SD Gothic Neo"/>
                <a:ea typeface="Apple SD Gothic Neo"/>
                <a:cs typeface="Apple SD Gothic Neo"/>
              </a:rPr>
              <a:t>882</a:t>
            </a:r>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000" b="0" i="0" u="none" cap="none" spc="0">
                <a:ln>
                  <a:noFill/>
                </a:ln>
                <a:solidFill>
                  <a:srgbClr val="BCEF59"/>
                </a:solidFill>
                <a:latin typeface="Apple SD Gothic Neo"/>
                <a:ea typeface="Apple SD Gothic Neo"/>
                <a:cs typeface="Apple SD Gothic Neo"/>
              </a:rPr>
              <a:t>1,010</a:t>
            </a:r>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000" b="0" i="0" u="none" cap="none" spc="0">
                <a:ln>
                  <a:noFill/>
                </a:ln>
                <a:solidFill>
                  <a:srgbClr val="BCEF59"/>
                </a:solidFill>
                <a:latin typeface="Apple SD Gothic Neo"/>
                <a:ea typeface="Apple SD Gothic Neo"/>
                <a:cs typeface="Apple SD Gothic Neo"/>
              </a:rPr>
              <a:t>959</a:t>
            </a:r>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latin typeface="Apple SD Gothic Neo"/>
                <a:ea typeface="Apple SD Gothic Neo"/>
                <a:cs typeface="Apple SD Gothic Neo"/>
              </a:rPr>
              <a:t>동일한 1시간 앞 평가</a:t>
            </a:r>
          </a:p>
          <a:p xmlns:a="http://schemas.openxmlformats.org/drawingml/2006/main">
            <a:pPr>
              <a:lnSpc>
                <a:spcPct val="114000"/>
              </a:lnSpc>
              <a:spcBef>
                <a:spcPts val="0"/>
              </a:spcBef>
              <a:spcAft>
                <a:spcPts val="600"/>
              </a:spcAft>
              <a:buNone/>
            </a:pPr>
            <a:r>
              <a:rPr sz="1800">
                <a:latin typeface="Apple SD Gothic Neo"/>
                <a:ea typeface="Apple SD Gothic Neo"/>
                <a:cs typeface="Apple SD Gothic Neo"/>
              </a:rPr>
              <a:t>세 모델 모두 t-1까지의 관측을 사용할 수 있다.</a:t>
            </a:r>
          </a:p>
          <a:p xmlns:a="http://schemas.openxmlformats.org/drawingml/2006/main">
            <a:pPr>
              <a:lnSpc>
                <a:spcPct val="114000"/>
              </a:lnSpc>
              <a:spcBef>
                <a:spcPts val="0"/>
              </a:spcBef>
              <a:spcAft>
                <a:spcPts val="600"/>
              </a:spcAft>
              <a:buNone/>
            </a:pPr>
            <a:r>
              <a:rPr sz="1800">
                <a:latin typeface="Apple SD Gothic Neo"/>
                <a:ea typeface="Apple SD Gothic Neo"/>
                <a:cs typeface="Apple SD Gothic Neo"/>
              </a:rPr>
              <a:t>딥러닝 대표 seed는 검증 RMSE로 선택했다.</a:t>
            </a:r>
          </a:p>
          <a:p xmlns:a="http://schemas.openxmlformats.org/drawingml/2006/main">
            <a:pPr>
              <a:lnSpc>
                <a:spcPct val="114000"/>
              </a:lnSpc>
              <a:spcBef>
                <a:spcPts val="0"/>
              </a:spcBef>
              <a:spcAft>
                <a:spcPts val="600"/>
              </a:spcAft>
              <a:buNone/>
            </a:pPr>
            <a:r>
              <a:rPr sz="1800">
                <a:latin typeface="Apple SD Gothic Neo"/>
                <a:ea typeface="Apple SD Gothic Neo"/>
                <a:cs typeface="Apple SD Gothic Neo"/>
              </a:rPr>
              <a:t>고전 모형이 가장 좋다는 결과도 그대로 보고한다.</a:t>
            </a:r>
          </a:p>
        </p:txBody>
      </p:sp>
      <p:sp>
        <p:nvSpPr>
          <p:cNvPr id="9" name="Footer Placeholder 6">
            <a:extLst xmlns:a="http://schemas.openxmlformats.org/drawingml/2006/main">
              <a:ext uri="{FF2B5EF4-FFF2-40B4-BE49-F238E27FC236}">
                <a16:creationId xmlns:a16="http://schemas.microsoft.com/office/drawing/2014/main" id="{7472BC53-6948-EE0F-E8E5-5488EF53DFE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36961682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F06ADB7A-E0CB-A418-3590-620B0C5F17E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9EE8A1CA-4617-FF10-E8D0-B582B7F48A83}"/>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13</a:t>
            </a:r>
          </a:p>
        </p:txBody>
      </p:sp>
      <p:sp>
        <p:nvSpPr>
          <p:cNvPr id="533" name="Google Shape;533;p58">
            <a:extLst xmlns:a="http://schemas.openxmlformats.org/drawingml/2006/main">
              <a:ext uri="{FF2B5EF4-FFF2-40B4-BE49-F238E27FC236}">
                <a16:creationId xmlns:a16="http://schemas.microsoft.com/office/drawing/2014/main" id="{68499D35-F61B-DF1C-10A6-EA04E8D00662}"/>
              </a:ext>
            </a:extLst>
          </p:cNvPr>
          <p:cNvSpPr>
            <a:spLocks xmlns:a="http://schemas.openxmlformats.org/drawingml/2006/main" noGrp="1"/>
          </p:cNvSpPr>
          <p:nvPr>
            <p:ph type="title" idx="0"/>
          </p:nvPr>
        </p:nvSpPr>
        <p:spPr>
          <a:xfrm xmlns:a="http://schemas.openxmlformats.org/drawingml/2006/main">
            <a:off x="393700" y="344008"/>
            <a:ext cx="11404600" cy="792557"/>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모든 기준선과 딥러닝 성능 비교</a:t>
            </a:r>
          </a:p>
        </p:txBody>
      </p:sp>
      <p:graphicFrame>
        <p:nvGraphicFramePr>
          <p:cNvPr id="538" name=""/>
          <p:cNvGraphicFramePr/>
          <p:nvPr/>
        </p:nvGraphicFramePr>
        <p:xfrm>
          <a:off xmlns:a="http://schemas.openxmlformats.org/drawingml/2006/main" x="400050" y="1428750"/>
          <a:ext xmlns:a="http://schemas.openxmlformats.org/drawingml/2006/main" cx="11391900" cy="4333875"/>
        </p:xfrm>
        <a:graphic xmlns:a="http://schemas.openxmlformats.org/drawingml/2006/main">
          <a:graphicData uri="http://schemas.openxmlformats.org/drawingml/2006/table">
            <a:tbl>
              <a:tblPr/>
              <a:tblGrid>
                <a:gridCol w="4191000"/>
                <a:gridCol w="2400300"/>
                <a:gridCol w="2400300"/>
                <a:gridCol w="2400300"/>
              </a:tblGrid>
              <a:tr h="541734">
                <a:tc>
                  <a:txBody>
                    <a:bodyPr/>
                    <a:lstStyle/>
                    <a:p>
                      <a:r>
                        <a:rPr sz="1725" b="1">
                          <a:solidFill>
                            <a:srgbClr val="B9ED4C"/>
                          </a:solidFill>
                          <a:latin typeface="Apple SD Gothic Neo"/>
                          <a:ea typeface="Apple SD Gothic Neo"/>
                          <a:cs typeface="Apple SD Gothic Neo"/>
                        </a:rPr>
                        <a:t>모델</a:t>
                      </a:r>
                    </a:p>
                  </a:txBody>
                  <a:tcPr marL="91440" marR="91440" marT="45720" marB="45720">
                    <a:solidFill>
                      <a:srgbClr val="264B3A"/>
                    </a:solidFill>
                  </a:tcPr>
                </a:tc>
                <a:tc>
                  <a:txBody>
                    <a:bodyPr/>
                    <a:lstStyle/>
                    <a:p>
                      <a:r>
                        <a:rPr sz="1725" b="1">
                          <a:solidFill>
                            <a:srgbClr val="B9ED4C"/>
                          </a:solidFill>
                          <a:latin typeface="Apple SD Gothic Neo"/>
                          <a:ea typeface="Apple SD Gothic Neo"/>
                          <a:cs typeface="Apple SD Gothic Neo"/>
                        </a:rPr>
                        <a:t>MAE (MWh)</a:t>
                      </a:r>
                    </a:p>
                  </a:txBody>
                  <a:tcPr marL="91440" marR="91440" marT="45720" marB="45720">
                    <a:solidFill>
                      <a:srgbClr val="264B3A"/>
                    </a:solidFill>
                  </a:tcPr>
                </a:tc>
                <a:tc>
                  <a:txBody>
                    <a:bodyPr/>
                    <a:lstStyle/>
                    <a:p>
                      <a:r>
                        <a:rPr sz="1725" b="1">
                          <a:solidFill>
                            <a:srgbClr val="B9ED4C"/>
                          </a:solidFill>
                          <a:latin typeface="Apple SD Gothic Neo"/>
                          <a:ea typeface="Apple SD Gothic Neo"/>
                          <a:cs typeface="Apple SD Gothic Neo"/>
                        </a:rPr>
                        <a:t>RMSE (MWh)</a:t>
                      </a:r>
                    </a:p>
                  </a:txBody>
                  <a:tcPr marL="91440" marR="91440" marT="45720" marB="45720">
                    <a:solidFill>
                      <a:srgbClr val="264B3A"/>
                    </a:solidFill>
                  </a:tcPr>
                </a:tc>
                <a:tc>
                  <a:txBody>
                    <a:bodyPr/>
                    <a:lstStyle/>
                    <a:p>
                      <a:r>
                        <a:rPr sz="1725" b="1">
                          <a:solidFill>
                            <a:srgbClr val="B9ED4C"/>
                          </a:solidFill>
                          <a:latin typeface="Apple SD Gothic Neo"/>
                          <a:ea typeface="Apple SD Gothic Neo"/>
                          <a:cs typeface="Apple SD Gothic Neo"/>
                        </a:rPr>
                        <a:t>MAPE (%)</a:t>
                      </a:r>
                    </a:p>
                  </a:txBody>
                  <a:tcPr marL="91440" marR="91440" marT="45720" marB="45720">
                    <a:solidFill>
                      <a:srgbClr val="264B3A"/>
                    </a:solidFill>
                  </a:tcPr>
                </a:tc>
              </a:tr>
              <a:tr h="541734">
                <a:tc>
                  <a:txBody>
                    <a:bodyPr/>
                    <a:lstStyle/>
                    <a:p>
                      <a:r>
                        <a:rPr sz="1725" b="0">
                          <a:solidFill>
                            <a:srgbClr val="F8FAF8"/>
                          </a:solidFill>
                          <a:latin typeface="Apple SD Gothic Neo"/>
                          <a:ea typeface="Apple SD Gothic Neo"/>
                          <a:cs typeface="Apple SD Gothic Neo"/>
                        </a:rPr>
                        <a:t>직전 1시간</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2,186.8</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2,678.1</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3.37</a:t>
                      </a:r>
                    </a:p>
                  </a:txBody>
                  <a:tcPr marL="91440" marR="91440" marT="45720" marB="45720">
                    <a:solidFill>
                      <a:srgbClr val="073322"/>
                    </a:solidFill>
                  </a:tcPr>
                </a:tc>
              </a:tr>
              <a:tr h="541734">
                <a:tc>
                  <a:txBody>
                    <a:bodyPr/>
                    <a:lstStyle/>
                    <a:p>
                      <a:r>
                        <a:rPr sz="1725" b="0">
                          <a:solidFill>
                            <a:srgbClr val="F8FAF8"/>
                          </a:solidFill>
                          <a:latin typeface="Apple SD Gothic Neo"/>
                          <a:ea typeface="Apple SD Gothic Neo"/>
                          <a:cs typeface="Apple SD Gothic Neo"/>
                        </a:rPr>
                        <a:t>24시간 전</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4,777.2</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6,953.7</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7.50</a:t>
                      </a:r>
                    </a:p>
                  </a:txBody>
                  <a:tcPr marL="91440" marR="91440" marT="45720" marB="45720">
                    <a:solidFill>
                      <a:srgbClr val="123D2C"/>
                    </a:solidFill>
                  </a:tcPr>
                </a:tc>
              </a:tr>
              <a:tr h="541734">
                <a:tc>
                  <a:txBody>
                    <a:bodyPr/>
                    <a:lstStyle/>
                    <a:p>
                      <a:r>
                        <a:rPr sz="1725" b="0">
                          <a:solidFill>
                            <a:srgbClr val="F8FAF8"/>
                          </a:solidFill>
                          <a:latin typeface="Apple SD Gothic Neo"/>
                          <a:ea typeface="Apple SD Gothic Neo"/>
                          <a:cs typeface="Apple SD Gothic Neo"/>
                        </a:rPr>
                        <a:t>168시간 전</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2,522.5</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3,524.0</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3.85</a:t>
                      </a:r>
                    </a:p>
                  </a:txBody>
                  <a:tcPr marL="91440" marR="91440" marT="45720" marB="45720">
                    <a:solidFill>
                      <a:srgbClr val="073322"/>
                    </a:solidFill>
                  </a:tcPr>
                </a:tc>
              </a:tr>
              <a:tr h="541734">
                <a:tc>
                  <a:txBody>
                    <a:bodyPr/>
                    <a:lstStyle/>
                    <a:p>
                      <a:r>
                        <a:rPr sz="1725" b="0">
                          <a:solidFill>
                            <a:srgbClr val="F8FAF8"/>
                          </a:solidFill>
                          <a:latin typeface="Apple SD Gothic Neo"/>
                          <a:ea typeface="Apple SD Gothic Neo"/>
                          <a:cs typeface="Apple SD Gothic Neo"/>
                        </a:rPr>
                        <a:t>SARIMA</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621.4</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881.8</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0.98</a:t>
                      </a:r>
                    </a:p>
                  </a:txBody>
                  <a:tcPr marL="91440" marR="91440" marT="45720" marB="45720">
                    <a:solidFill>
                      <a:srgbClr val="123D2C"/>
                    </a:solidFill>
                  </a:tcPr>
                </a:tc>
              </a:tr>
              <a:tr h="541734">
                <a:tc>
                  <a:txBody>
                    <a:bodyPr/>
                    <a:lstStyle/>
                    <a:p>
                      <a:r>
                        <a:rPr sz="1725" b="0">
                          <a:solidFill>
                            <a:srgbClr val="F8FAF8"/>
                          </a:solidFill>
                          <a:latin typeface="Apple SD Gothic Neo"/>
                          <a:ea typeface="Apple SD Gothic Neo"/>
                          <a:cs typeface="Apple SD Gothic Neo"/>
                        </a:rPr>
                        <a:t>LSTM + 날씨</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733.9</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1,010.2</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1.14</a:t>
                      </a:r>
                    </a:p>
                  </a:txBody>
                  <a:tcPr marL="91440" marR="91440" marT="45720" marB="45720">
                    <a:solidFill>
                      <a:srgbClr val="073322"/>
                    </a:solidFill>
                  </a:tcPr>
                </a:tc>
              </a:tr>
              <a:tr h="541734">
                <a:tc>
                  <a:txBody>
                    <a:bodyPr/>
                    <a:lstStyle/>
                    <a:p>
                      <a:r>
                        <a:rPr sz="1725" b="0">
                          <a:solidFill>
                            <a:srgbClr val="F8FAF8"/>
                          </a:solidFill>
                          <a:latin typeface="Apple SD Gothic Neo"/>
                          <a:ea typeface="Apple SD Gothic Neo"/>
                          <a:cs typeface="Apple SD Gothic Neo"/>
                        </a:rPr>
                        <a:t>LSTM 수요·달력</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820.0</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1,186.7</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1.26</a:t>
                      </a:r>
                    </a:p>
                  </a:txBody>
                  <a:tcPr marL="91440" marR="91440" marT="45720" marB="45720">
                    <a:solidFill>
                      <a:srgbClr val="123D2C"/>
                    </a:solidFill>
                  </a:tcPr>
                </a:tc>
              </a:tr>
              <a:tr h="541734">
                <a:tc>
                  <a:txBody>
                    <a:bodyPr/>
                    <a:lstStyle/>
                    <a:p>
                      <a:r>
                        <a:rPr sz="1725" b="0">
                          <a:solidFill>
                            <a:srgbClr val="F8FAF8"/>
                          </a:solidFill>
                          <a:latin typeface="Apple SD Gothic Neo"/>
                          <a:ea typeface="Apple SD Gothic Neo"/>
                          <a:cs typeface="Apple SD Gothic Neo"/>
                        </a:rPr>
                        <a:t>Transformer + 날씨</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713.6</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958.7</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1.12</a:t>
                      </a:r>
                    </a:p>
                  </a:txBody>
                  <a:tcPr marL="91440" marR="91440" marT="45720" marB="45720">
                    <a:solidFill>
                      <a:srgbClr val="073322"/>
                    </a:solidFill>
                  </a:tcPr>
                </a:tc>
              </a:tr>
            </a:tbl>
          </a:graphicData>
        </a:graphic>
      </p:graphicFrame>
    </p:spTree>
    <p:extLst>
      <p:ext uri="{BB962C8B-B14F-4D97-AF65-F5344CB8AC3E}">
        <p14:creationId xmlns:p14="http://schemas.microsoft.com/office/powerpoint/2010/main" val="243517153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14</a:t>
            </a: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테스트 첫 72시간 예측</a:t>
            </a:r>
          </a:p>
        </p:txBody>
      </p:sp>
      <p:graphicFrame>
        <p:nvGraphicFramePr>
          <p:cNvPr id="539" name="Chart"/>
          <p:cNvGraphicFramePr/>
          <p:nvPr/>
        </p:nvGraphicFramePr>
        <p:xfrm>
          <a:off xmlns:a="http://schemas.openxmlformats.org/drawingml/2006/main" x="666750" y="1666875"/>
          <a:ext xmlns:a="http://schemas.openxmlformats.org/drawingml/2006/main" cx="10858500" cy="3952875"/>
        </p:xfrm>
        <a:graphic xmlns:a="http://schemas.openxmlformats.org/drawingml/2006/main">
          <a:graphicData uri="http://schemas.openxmlformats.org/drawingml/2006/chart">
            <c:chart xmlns:r="http://schemas.openxmlformats.org/officeDocument/2006/relationships" xmlns:c="http://schemas.openxmlformats.org/drawingml/2006/chart" r:id="R37cca421353740ff"/>
          </a:graphicData>
        </a:graphic>
      </p:graphicFrame>
      <p:sp>
        <p:nvSpPr>
          <p:cNvPr id="535" name="">
            <a:extLst xmlns:a="http://schemas.openxmlformats.org/drawingml/2006/main">
              <a:ext uri="{FF2B5EF4-FFF2-40B4-BE49-F238E27FC236}">
                <a16:creationId xmlns:a16="http://schemas.microsoft.com/office/drawing/2014/main" id="{1AB71421-9283-454F-8FEC-80270D6DC6AE}"/>
              </a:ext>
            </a:extLst>
          </p:cNvPr>
          <p:cNvSpPr>
            <a:spLocks xmlns:a="http://schemas.openxmlformats.org/drawingml/2006/main" noGrp="1"/>
          </p:cNvSpPr>
          <p:nvPr/>
        </p:nvSpPr>
        <p:spPr>
          <a:xfrm xmlns:a="http://schemas.openxmlformats.org/drawingml/2006/main">
            <a:off x="400050" y="5762625"/>
            <a:ext cx="11391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a:solidFill>
                  <a:srgbClr val="D0DAD5"/>
                </a:solidFill>
                <a:latin typeface="Apple SD Gothic Neo"/>
                <a:ea typeface="Apple SD Gothic Neo"/>
                <a:cs typeface="Apple SD Gothic Neo"/>
              </a:defRPr>
            </a:pPr>
            <a:r>
              <a:rPr sz="1650">
                <a:solidFill>
                  <a:srgbClr val="D0DAD5"/>
                </a:solidFill>
                <a:latin typeface="Apple SD Gothic Neo"/>
                <a:ea typeface="Apple SD Gothic Neo"/>
                <a:cs typeface="Apple SD Gothic Neo"/>
              </a:rPr>
              <a:t>시각별 실제 관측이 들어온 뒤 다음 한 시점을 예측한다. 72시간 일괄 예측이 아니다.</a:t>
            </a:r>
          </a:p>
        </p:txBody>
      </p:sp>
    </p:spTree>
    <p:extLst>
      <p:ext uri="{BB962C8B-B14F-4D97-AF65-F5344CB8AC3E}">
        <p14:creationId xmlns:p14="http://schemas.microsoft.com/office/powerpoint/2010/main" val="324567077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15</a:t>
            </a: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날씨 입력과 반복 학습 결과</a:t>
            </a:r>
          </a:p>
        </p:txBody>
      </p:sp>
      <p:graphicFrame>
        <p:nvGraphicFramePr>
          <p:cNvPr id="539" name=""/>
          <p:cNvGraphicFramePr/>
          <p:nvPr/>
        </p:nvGraphicFramePr>
        <p:xfrm>
          <a:off xmlns:a="http://schemas.openxmlformats.org/drawingml/2006/main" x="400050" y="1619250"/>
          <a:ext xmlns:a="http://schemas.openxmlformats.org/drawingml/2006/main" cx="11391900" cy="2381250"/>
        </p:xfrm>
        <a:graphic xmlns:a="http://schemas.openxmlformats.org/drawingml/2006/main">
          <a:graphicData uri="http://schemas.openxmlformats.org/drawingml/2006/table">
            <a:tbl>
              <a:tblPr/>
              <a:tblGrid>
                <a:gridCol w="4191000"/>
                <a:gridCol w="2400300"/>
                <a:gridCol w="2400300"/>
                <a:gridCol w="2400300"/>
              </a:tblGrid>
              <a:tr h="595313">
                <a:tc>
                  <a:txBody>
                    <a:bodyPr/>
                    <a:lstStyle/>
                    <a:p>
                      <a:r>
                        <a:rPr sz="1800" b="1">
                          <a:solidFill>
                            <a:srgbClr val="B9ED4C"/>
                          </a:solidFill>
                          <a:latin typeface="Apple SD Gothic Neo"/>
                          <a:ea typeface="Apple SD Gothic Neo"/>
                          <a:cs typeface="Apple SD Gothic Neo"/>
                        </a:rPr>
                        <a:t>모델</a:t>
                      </a:r>
                    </a:p>
                  </a:txBody>
                  <a:tcPr marL="91440" marR="91440" marT="45720" marB="45720">
                    <a:solidFill>
                      <a:srgbClr val="264B3A"/>
                    </a:solidFill>
                  </a:tcPr>
                </a:tc>
                <a:tc>
                  <a:txBody>
                    <a:bodyPr/>
                    <a:lstStyle/>
                    <a:p>
                      <a:r>
                        <a:rPr sz="1800" b="1">
                          <a:solidFill>
                            <a:srgbClr val="B9ED4C"/>
                          </a:solidFill>
                          <a:latin typeface="Apple SD Gothic Neo"/>
                          <a:ea typeface="Apple SD Gothic Neo"/>
                          <a:cs typeface="Apple SD Gothic Neo"/>
                        </a:rPr>
                        <a:t>대표 RMSE</a:t>
                      </a:r>
                    </a:p>
                  </a:txBody>
                  <a:tcPr marL="91440" marR="91440" marT="45720" marB="45720">
                    <a:solidFill>
                      <a:srgbClr val="264B3A"/>
                    </a:solidFill>
                  </a:tcPr>
                </a:tc>
                <a:tc>
                  <a:txBody>
                    <a:bodyPr/>
                    <a:lstStyle/>
                    <a:p>
                      <a:r>
                        <a:rPr sz="1800" b="1">
                          <a:solidFill>
                            <a:srgbClr val="B9ED4C"/>
                          </a:solidFill>
                          <a:latin typeface="Apple SD Gothic Neo"/>
                          <a:ea typeface="Apple SD Gothic Neo"/>
                          <a:cs typeface="Apple SD Gothic Neo"/>
                        </a:rPr>
                        <a:t>3개 seed 평균</a:t>
                      </a:r>
                    </a:p>
                  </a:txBody>
                  <a:tcPr marL="91440" marR="91440" marT="45720" marB="45720">
                    <a:solidFill>
                      <a:srgbClr val="264B3A"/>
                    </a:solidFill>
                  </a:tcPr>
                </a:tc>
                <a:tc>
                  <a:txBody>
                    <a:bodyPr/>
                    <a:lstStyle/>
                    <a:p>
                      <a:r>
                        <a:rPr sz="1800" b="1">
                          <a:solidFill>
                            <a:srgbClr val="B9ED4C"/>
                          </a:solidFill>
                          <a:latin typeface="Apple SD Gothic Neo"/>
                          <a:ea typeface="Apple SD Gothic Neo"/>
                          <a:cs typeface="Apple SD Gothic Neo"/>
                        </a:rPr>
                        <a:t>seed 표준편차</a:t>
                      </a:r>
                    </a:p>
                  </a:txBody>
                  <a:tcPr marL="91440" marR="91440" marT="45720" marB="45720">
                    <a:solidFill>
                      <a:srgbClr val="264B3A"/>
                    </a:solidFill>
                  </a:tcPr>
                </a:tc>
              </a:tr>
              <a:tr h="595313">
                <a:tc>
                  <a:txBody>
                    <a:bodyPr/>
                    <a:lstStyle/>
                    <a:p>
                      <a:r>
                        <a:rPr sz="1800" b="0">
                          <a:solidFill>
                            <a:srgbClr val="F8FAF8"/>
                          </a:solidFill>
                          <a:latin typeface="Apple SD Gothic Neo"/>
                          <a:ea typeface="Apple SD Gothic Neo"/>
                          <a:cs typeface="Apple SD Gothic Neo"/>
                        </a:rPr>
                        <a:t>LSTM + 날씨</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1,010.2</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1,055.5</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41.3</a:t>
                      </a:r>
                    </a:p>
                  </a:txBody>
                  <a:tcPr marL="91440" marR="91440" marT="45720" marB="45720">
                    <a:solidFill>
                      <a:srgbClr val="073322"/>
                    </a:solidFill>
                  </a:tcPr>
                </a:tc>
              </a:tr>
              <a:tr h="595313">
                <a:tc>
                  <a:txBody>
                    <a:bodyPr/>
                    <a:lstStyle/>
                    <a:p>
                      <a:r>
                        <a:rPr sz="1800" b="0">
                          <a:solidFill>
                            <a:srgbClr val="F8FAF8"/>
                          </a:solidFill>
                          <a:latin typeface="Apple SD Gothic Neo"/>
                          <a:ea typeface="Apple SD Gothic Neo"/>
                          <a:cs typeface="Apple SD Gothic Neo"/>
                        </a:rPr>
                        <a:t>LSTM 수요·달력</a:t>
                      </a:r>
                    </a:p>
                  </a:txBody>
                  <a:tcPr marL="91440" marR="91440" marT="45720" marB="45720">
                    <a:solidFill>
                      <a:srgbClr val="123D2C"/>
                    </a:solidFill>
                  </a:tcPr>
                </a:tc>
                <a:tc>
                  <a:txBody>
                    <a:bodyPr/>
                    <a:lstStyle/>
                    <a:p>
                      <a:r>
                        <a:rPr sz="1800" b="0">
                          <a:solidFill>
                            <a:srgbClr val="F8FAF8"/>
                          </a:solidFill>
                          <a:latin typeface="Apple SD Gothic Neo"/>
                          <a:ea typeface="Apple SD Gothic Neo"/>
                          <a:cs typeface="Apple SD Gothic Neo"/>
                        </a:rPr>
                        <a:t>1,186.7</a:t>
                      </a:r>
                    </a:p>
                  </a:txBody>
                  <a:tcPr marL="91440" marR="91440" marT="45720" marB="45720">
                    <a:solidFill>
                      <a:srgbClr val="123D2C"/>
                    </a:solidFill>
                  </a:tcPr>
                </a:tc>
                <a:tc>
                  <a:txBody>
                    <a:bodyPr/>
                    <a:lstStyle/>
                    <a:p>
                      <a:r>
                        <a:rPr sz="1800" b="0">
                          <a:solidFill>
                            <a:srgbClr val="F8FAF8"/>
                          </a:solidFill>
                          <a:latin typeface="Apple SD Gothic Neo"/>
                          <a:ea typeface="Apple SD Gothic Neo"/>
                          <a:cs typeface="Apple SD Gothic Neo"/>
                        </a:rPr>
                        <a:t>1,258.3</a:t>
                      </a:r>
                    </a:p>
                  </a:txBody>
                  <a:tcPr marL="91440" marR="91440" marT="45720" marB="45720">
                    <a:solidFill>
                      <a:srgbClr val="123D2C"/>
                    </a:solidFill>
                  </a:tcPr>
                </a:tc>
                <a:tc>
                  <a:txBody>
                    <a:bodyPr/>
                    <a:lstStyle/>
                    <a:p>
                      <a:r>
                        <a:rPr sz="1800" b="0">
                          <a:solidFill>
                            <a:srgbClr val="F8FAF8"/>
                          </a:solidFill>
                          <a:latin typeface="Apple SD Gothic Neo"/>
                          <a:ea typeface="Apple SD Gothic Neo"/>
                          <a:cs typeface="Apple SD Gothic Neo"/>
                        </a:rPr>
                        <a:t>79.5</a:t>
                      </a:r>
                    </a:p>
                  </a:txBody>
                  <a:tcPr marL="91440" marR="91440" marT="45720" marB="45720">
                    <a:solidFill>
                      <a:srgbClr val="123D2C"/>
                    </a:solidFill>
                  </a:tcPr>
                </a:tc>
              </a:tr>
              <a:tr h="595313">
                <a:tc>
                  <a:txBody>
                    <a:bodyPr/>
                    <a:lstStyle/>
                    <a:p>
                      <a:r>
                        <a:rPr sz="1800" b="0">
                          <a:solidFill>
                            <a:srgbClr val="F8FAF8"/>
                          </a:solidFill>
                          <a:latin typeface="Apple SD Gothic Neo"/>
                          <a:ea typeface="Apple SD Gothic Neo"/>
                          <a:cs typeface="Apple SD Gothic Neo"/>
                        </a:rPr>
                        <a:t>Transformer + 날씨</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958.7</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1,044.6</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91.2</a:t>
                      </a:r>
                    </a:p>
                  </a:txBody>
                  <a:tcPr marL="91440" marR="91440" marT="45720" marB="45720">
                    <a:solidFill>
                      <a:srgbClr val="073322"/>
                    </a:solidFill>
                  </a:tcPr>
                </a:tc>
              </a:tr>
            </a:tbl>
          </a:graphicData>
        </a:graphic>
      </p:graphicFrame>
      <p:sp>
        <p:nvSpPr>
          <p:cNvPr id="535" name="">
            <a:extLst xmlns:a="http://schemas.openxmlformats.org/drawingml/2006/main">
              <a:ext uri="{FF2B5EF4-FFF2-40B4-BE49-F238E27FC236}">
                <a16:creationId xmlns:a16="http://schemas.microsoft.com/office/drawing/2014/main" id="{451965FB-2733-4A58-8B4C-4D45957BA769}"/>
              </a:ext>
            </a:extLst>
          </p:cNvPr>
          <p:cNvSpPr>
            <a:spLocks xmlns:a="http://schemas.openxmlformats.org/drawingml/2006/main" noGrp="1"/>
          </p:cNvSpPr>
          <p:nvPr/>
        </p:nvSpPr>
        <p:spPr>
          <a:xfrm xmlns:a="http://schemas.openxmlformats.org/drawingml/2006/main">
            <a:off x="400050" y="4429125"/>
            <a:ext cx="113919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a:solidFill>
                  <a:srgbClr val="D0DAD5"/>
                </a:solidFill>
                <a:latin typeface="Apple SD Gothic Neo"/>
                <a:ea typeface="Apple SD Gothic Neo"/>
                <a:cs typeface="Apple SD Gothic Neo"/>
              </a:defRPr>
            </a:pPr>
            <a:r>
              <a:rPr sz="1800">
                <a:solidFill>
                  <a:srgbClr val="D0DAD5"/>
                </a:solidFill>
                <a:latin typeface="Apple SD Gothic Neo"/>
                <a:ea typeface="Apple SD Gothic Neo"/>
                <a:cs typeface="Apple SD Gothic Neo"/>
              </a:rPr>
              <a:t>날씨 LSTM은 테스트에서 수요·달력 LSTM보다 RMSE가 14.9% 작았다.</a:t>
            </a:r>
          </a:p>
          <a:p xmlns:a="http://schemas.openxmlformats.org/drawingml/2006/main">
            <a:pPr>
              <a:defRPr sz="1800">
                <a:solidFill>
                  <a:srgbClr val="D0DAD5"/>
                </a:solidFill>
                <a:latin typeface="Apple SD Gothic Neo"/>
                <a:ea typeface="Apple SD Gothic Neo"/>
                <a:cs typeface="Apple SD Gothic Neo"/>
              </a:defRPr>
            </a:pPr>
            <a:r>
              <a:rPr sz="1800">
                <a:solidFill>
                  <a:srgbClr val="D0DAD5"/>
                </a:solidFill>
                <a:latin typeface="Apple SD Gothic Neo"/>
                <a:ea typeface="Apple SD Gothic Neo"/>
                <a:cs typeface="Apple SD Gothic Neo"/>
              </a:rPr>
              <a:t>검증에서는 순위가 반대였다. 날씨의 인과효과나 보편적 우위를 뜻하지 않는다.</a:t>
            </a:r>
          </a:p>
          <a:p xmlns:a="http://schemas.openxmlformats.org/drawingml/2006/main">
            <a:pPr>
              <a:defRPr sz="1800">
                <a:solidFill>
                  <a:srgbClr val="D0DAD5"/>
                </a:solidFill>
                <a:latin typeface="Apple SD Gothic Neo"/>
                <a:ea typeface="Apple SD Gothic Neo"/>
                <a:cs typeface="Apple SD Gothic Neo"/>
              </a:defRPr>
            </a:pPr>
            <a:r>
              <a:rPr sz="1800">
                <a:solidFill>
                  <a:srgbClr val="D0DAD5"/>
                </a:solidFill>
                <a:latin typeface="Apple SD Gothic Neo"/>
                <a:ea typeface="Apple SD Gothic Neo"/>
                <a:cs typeface="Apple SD Gothic Neo"/>
              </a:rPr>
              <a:t>표준편차는 3개 seed 간 변동이며 일반화 성능의 신뢰구간이 아니다.</a:t>
            </a:r>
          </a:p>
        </p:txBody>
      </p:sp>
    </p:spTree>
    <p:extLst>
      <p:ext uri="{BB962C8B-B14F-4D97-AF65-F5344CB8AC3E}">
        <p14:creationId xmlns:p14="http://schemas.microsoft.com/office/powerpoint/2010/main" val="324567077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16</a:t>
            </a: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평일·주말·고수요 오차</a:t>
            </a:r>
          </a:p>
        </p:txBody>
      </p:sp>
      <p:graphicFrame>
        <p:nvGraphicFramePr>
          <p:cNvPr id="539" name=""/>
          <p:cNvGraphicFramePr/>
          <p:nvPr/>
        </p:nvGraphicFramePr>
        <p:xfrm>
          <a:off xmlns:a="http://schemas.openxmlformats.org/drawingml/2006/main" x="400050" y="1619250"/>
          <a:ext xmlns:a="http://schemas.openxmlformats.org/drawingml/2006/main" cx="11391900" cy="2667000"/>
        </p:xfrm>
        <a:graphic xmlns:a="http://schemas.openxmlformats.org/drawingml/2006/main">
          <a:graphicData uri="http://schemas.openxmlformats.org/drawingml/2006/table">
            <a:tbl>
              <a:tblPr/>
              <a:tblGrid>
                <a:gridCol w="4191000"/>
                <a:gridCol w="2400300"/>
                <a:gridCol w="2400300"/>
                <a:gridCol w="2400300"/>
              </a:tblGrid>
              <a:tr h="666750">
                <a:tc>
                  <a:txBody>
                    <a:bodyPr/>
                    <a:lstStyle/>
                    <a:p>
                      <a:r>
                        <a:rPr sz="1725" b="1">
                          <a:solidFill>
                            <a:srgbClr val="B9ED4C"/>
                          </a:solidFill>
                          <a:latin typeface="Apple SD Gothic Neo"/>
                          <a:ea typeface="Apple SD Gothic Neo"/>
                          <a:cs typeface="Apple SD Gothic Neo"/>
                        </a:rPr>
                        <a:t>모델</a:t>
                      </a:r>
                    </a:p>
                  </a:txBody>
                  <a:tcPr marL="91440" marR="91440" marT="45720" marB="45720">
                    <a:solidFill>
                      <a:srgbClr val="264B3A"/>
                    </a:solidFill>
                  </a:tcPr>
                </a:tc>
                <a:tc>
                  <a:txBody>
                    <a:bodyPr/>
                    <a:lstStyle/>
                    <a:p>
                      <a:r>
                        <a:rPr sz="1725" b="1">
                          <a:solidFill>
                            <a:srgbClr val="B9ED4C"/>
                          </a:solidFill>
                          <a:latin typeface="Apple SD Gothic Neo"/>
                          <a:ea typeface="Apple SD Gothic Neo"/>
                          <a:cs typeface="Apple SD Gothic Neo"/>
                        </a:rPr>
                        <a:t>평일 (930시간)</a:t>
                      </a:r>
                    </a:p>
                  </a:txBody>
                  <a:tcPr marL="91440" marR="91440" marT="45720" marB="45720">
                    <a:solidFill>
                      <a:srgbClr val="264B3A"/>
                    </a:solidFill>
                  </a:tcPr>
                </a:tc>
                <a:tc>
                  <a:txBody>
                    <a:bodyPr/>
                    <a:lstStyle/>
                    <a:p>
                      <a:r>
                        <a:rPr sz="1725" b="1">
                          <a:solidFill>
                            <a:srgbClr val="B9ED4C"/>
                          </a:solidFill>
                          <a:latin typeface="Apple SD Gothic Neo"/>
                          <a:ea typeface="Apple SD Gothic Neo"/>
                          <a:cs typeface="Apple SD Gothic Neo"/>
                        </a:rPr>
                        <a:t>주말 (384시간)</a:t>
                      </a:r>
                    </a:p>
                  </a:txBody>
                  <a:tcPr marL="91440" marR="91440" marT="45720" marB="45720">
                    <a:solidFill>
                      <a:srgbClr val="264B3A"/>
                    </a:solidFill>
                  </a:tcPr>
                </a:tc>
                <a:tc>
                  <a:txBody>
                    <a:bodyPr/>
                    <a:lstStyle/>
                    <a:p>
                      <a:r>
                        <a:rPr sz="1725" b="1">
                          <a:solidFill>
                            <a:srgbClr val="B9ED4C"/>
                          </a:solidFill>
                          <a:latin typeface="Apple SD Gothic Neo"/>
                          <a:ea typeface="Apple SD Gothic Neo"/>
                          <a:cs typeface="Apple SD Gothic Neo"/>
                        </a:rPr>
                        <a:t>고수요 (27시간)</a:t>
                      </a:r>
                    </a:p>
                  </a:txBody>
                  <a:tcPr marL="91440" marR="91440" marT="45720" marB="45720">
                    <a:solidFill>
                      <a:srgbClr val="264B3A"/>
                    </a:solidFill>
                  </a:tcPr>
                </a:tc>
              </a:tr>
              <a:tr h="666750">
                <a:tc>
                  <a:txBody>
                    <a:bodyPr/>
                    <a:lstStyle/>
                    <a:p>
                      <a:r>
                        <a:rPr sz="1725" b="0">
                          <a:solidFill>
                            <a:srgbClr val="F8FAF8"/>
                          </a:solidFill>
                          <a:latin typeface="Apple SD Gothic Neo"/>
                          <a:ea typeface="Apple SD Gothic Neo"/>
                          <a:cs typeface="Apple SD Gothic Neo"/>
                        </a:rPr>
                        <a:t>SARIMA</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770.1</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1,106.6</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1,088.4</a:t>
                      </a:r>
                    </a:p>
                  </a:txBody>
                  <a:tcPr marL="91440" marR="91440" marT="45720" marB="45720">
                    <a:solidFill>
                      <a:srgbClr val="073322"/>
                    </a:solidFill>
                  </a:tcPr>
                </a:tc>
              </a:tr>
              <a:tr h="666750">
                <a:tc>
                  <a:txBody>
                    <a:bodyPr/>
                    <a:lstStyle/>
                    <a:p>
                      <a:r>
                        <a:rPr sz="1725" b="0">
                          <a:solidFill>
                            <a:srgbClr val="F8FAF8"/>
                          </a:solidFill>
                          <a:latin typeface="Apple SD Gothic Neo"/>
                          <a:ea typeface="Apple SD Gothic Neo"/>
                          <a:cs typeface="Apple SD Gothic Neo"/>
                        </a:rPr>
                        <a:t>LSTM + 날씨</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1,075.5</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830.9</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1,381.0</a:t>
                      </a:r>
                    </a:p>
                  </a:txBody>
                  <a:tcPr marL="91440" marR="91440" marT="45720" marB="45720">
                    <a:solidFill>
                      <a:srgbClr val="123D2C"/>
                    </a:solidFill>
                  </a:tcPr>
                </a:tc>
              </a:tr>
              <a:tr h="666750">
                <a:tc>
                  <a:txBody>
                    <a:bodyPr/>
                    <a:lstStyle/>
                    <a:p>
                      <a:r>
                        <a:rPr sz="1725" b="0">
                          <a:solidFill>
                            <a:srgbClr val="F8FAF8"/>
                          </a:solidFill>
                          <a:latin typeface="Apple SD Gothic Neo"/>
                          <a:ea typeface="Apple SD Gothic Neo"/>
                          <a:cs typeface="Apple SD Gothic Neo"/>
                        </a:rPr>
                        <a:t>Transformer + 날씨</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1,012.7</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813.5</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1,158.7</a:t>
                      </a:r>
                    </a:p>
                  </a:txBody>
                  <a:tcPr marL="91440" marR="91440" marT="45720" marB="45720">
                    <a:solidFill>
                      <a:srgbClr val="073322"/>
                    </a:solidFill>
                  </a:tcPr>
                </a:tc>
              </a:tr>
            </a:tbl>
          </a:graphicData>
        </a:graphic>
      </p:graphicFrame>
      <p:sp>
        <p:nvSpPr>
          <p:cNvPr id="535" name="">
            <a:extLst xmlns:a="http://schemas.openxmlformats.org/drawingml/2006/main">
              <a:ext uri="{FF2B5EF4-FFF2-40B4-BE49-F238E27FC236}">
                <a16:creationId xmlns:a16="http://schemas.microsoft.com/office/drawing/2014/main" id="{0D87D5A1-EE3B-424A-B407-6CDD5AA3AF4B}"/>
              </a:ext>
            </a:extLst>
          </p:cNvPr>
          <p:cNvSpPr>
            <a:spLocks xmlns:a="http://schemas.openxmlformats.org/drawingml/2006/main" noGrp="1"/>
          </p:cNvSpPr>
          <p:nvPr/>
        </p:nvSpPr>
        <p:spPr>
          <a:xfrm xmlns:a="http://schemas.openxmlformats.org/drawingml/2006/main">
            <a:off x="400050" y="4857750"/>
            <a:ext cx="11391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a:solidFill>
                  <a:srgbClr val="D0DAD5"/>
                </a:solidFill>
                <a:latin typeface="Apple SD Gothic Neo"/>
                <a:ea typeface="Apple SD Gothic Neo"/>
                <a:cs typeface="Apple SD Gothic Neo"/>
              </a:defRPr>
            </a:pPr>
            <a:r>
              <a:rPr sz="1800">
                <a:solidFill>
                  <a:srgbClr val="D0DAD5"/>
                </a:solidFill>
                <a:latin typeface="Apple SD Gothic Neo"/>
                <a:ea typeface="Apple SD Gothic Neo"/>
                <a:cs typeface="Apple SD Gothic Neo"/>
              </a:rPr>
              <a:t>단위: RMSE, MWh. 고수요는 학습 수요 90백분위 이상.</a:t>
            </a:r>
          </a:p>
          <a:p xmlns:a="http://schemas.openxmlformats.org/drawingml/2006/main">
            <a:pPr>
              <a:defRPr sz="1800">
                <a:solidFill>
                  <a:srgbClr val="D0DAD5"/>
                </a:solidFill>
                <a:latin typeface="Apple SD Gothic Neo"/>
                <a:ea typeface="Apple SD Gothic Neo"/>
                <a:cs typeface="Apple SD Gothic Neo"/>
              </a:defRPr>
            </a:pPr>
            <a:r>
              <a:rPr sz="1800">
                <a:solidFill>
                  <a:srgbClr val="D0DAD5"/>
                </a:solidFill>
                <a:latin typeface="Apple SD Gothic Neo"/>
                <a:ea typeface="Apple SD Gothic Neo"/>
                <a:cs typeface="Apple SD Gothic Neo"/>
              </a:rPr>
              <a:t>주말에는 딥러닝 오차가 더 작다. 고수요 표본이 적어 극단 수요 결론은 제한적이다.</a:t>
            </a:r>
          </a:p>
        </p:txBody>
      </p:sp>
    </p:spTree>
    <p:extLst>
      <p:ext uri="{BB962C8B-B14F-4D97-AF65-F5344CB8AC3E}">
        <p14:creationId xmlns:p14="http://schemas.microsoft.com/office/powerpoint/2010/main" val="324567077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3" name="Footer Placeholder 22">
            <a:extLst xmlns:a="http://schemas.openxmlformats.org/drawingml/2006/main">
              <a:ext uri="{FF2B5EF4-FFF2-40B4-BE49-F238E27FC236}">
                <a16:creationId xmlns:a16="http://schemas.microsoft.com/office/drawing/2014/main" id="{AD97F9EA-012C-21EB-B59E-E7F4EA1900F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0AF45DF-4338-2F83-4089-BDD958131658}"/>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17</a:t>
            </a:r>
          </a:p>
        </p:txBody>
      </p:sp>
      <p:sp>
        <p:nvSpPr>
          <p:cNvPr id="533" name="Google Shape;533;p58">
            <a:extLst xmlns:a="http://schemas.openxmlformats.org/drawingml/2006/main">
              <a:ext uri="{FF2B5EF4-FFF2-40B4-BE49-F238E27FC236}">
                <a16:creationId xmlns:a16="http://schemas.microsoft.com/office/drawing/2014/main" id="{E4D2BBD2-B9DC-C05C-151C-46086B5BA514}"/>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해석의 범위와 실험 한계</a:t>
            </a:r>
          </a:p>
        </p:txBody>
      </p:sp>
      <p:graphicFrame>
        <p:nvGraphicFramePr>
          <p:cNvPr id="538" name=""/>
          <p:cNvGraphicFramePr/>
          <p:nvPr/>
        </p:nvGraphicFramePr>
        <p:xfrm>
          <a:off xmlns:a="http://schemas.openxmlformats.org/drawingml/2006/main" x="400050" y="1619250"/>
          <a:ext xmlns:a="http://schemas.openxmlformats.org/drawingml/2006/main" cx="11391900" cy="3714750"/>
        </p:xfrm>
        <a:graphic xmlns:a="http://schemas.openxmlformats.org/drawingml/2006/main">
          <a:graphicData uri="http://schemas.openxmlformats.org/drawingml/2006/table">
            <a:tbl>
              <a:tblPr/>
              <a:tblGrid>
                <a:gridCol w="3619500"/>
                <a:gridCol w="7772400"/>
              </a:tblGrid>
              <a:tr h="619125">
                <a:tc>
                  <a:txBody>
                    <a:bodyPr/>
                    <a:lstStyle/>
                    <a:p>
                      <a:r>
                        <a:rPr sz="1725" b="1">
                          <a:solidFill>
                            <a:srgbClr val="B9ED4C"/>
                          </a:solidFill>
                          <a:latin typeface="Apple SD Gothic Neo"/>
                          <a:ea typeface="Apple SD Gothic Neo"/>
                          <a:cs typeface="Apple SD Gothic Neo"/>
                        </a:rPr>
                        <a:t>한계</a:t>
                      </a:r>
                    </a:p>
                  </a:txBody>
                  <a:tcPr marL="91440" marR="91440" marT="45720" marB="45720">
                    <a:solidFill>
                      <a:srgbClr val="264B3A"/>
                    </a:solidFill>
                  </a:tcPr>
                </a:tc>
                <a:tc>
                  <a:txBody>
                    <a:bodyPr/>
                    <a:lstStyle/>
                    <a:p>
                      <a:r>
                        <a:rPr sz="1725" b="1">
                          <a:solidFill>
                            <a:srgbClr val="B9ED4C"/>
                          </a:solidFill>
                          <a:latin typeface="Apple SD Gothic Neo"/>
                          <a:ea typeface="Apple SD Gothic Neo"/>
                          <a:cs typeface="Apple SD Gothic Neo"/>
                        </a:rPr>
                        <a:t>해석에 미치는 영향</a:t>
                      </a:r>
                    </a:p>
                  </a:txBody>
                  <a:tcPr marL="91440" marR="91440" marT="45720" marB="45720">
                    <a:solidFill>
                      <a:srgbClr val="264B3A"/>
                    </a:solidFill>
                  </a:tcPr>
                </a:tc>
              </a:tr>
              <a:tr h="619125">
                <a:tc>
                  <a:txBody>
                    <a:bodyPr/>
                    <a:lstStyle/>
                    <a:p>
                      <a:r>
                        <a:rPr sz="1725" b="0">
                          <a:solidFill>
                            <a:srgbClr val="F8FAF8"/>
                          </a:solidFill>
                          <a:latin typeface="Apple SD Gothic Neo"/>
                          <a:ea typeface="Apple SD Gothic Neo"/>
                          <a:cs typeface="Apple SD Gothic Neo"/>
                        </a:rPr>
                        <a:t>1년 자료·겨울 중심 테스트</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여름 최대 수요와 다른 연도로 일반화하기 어렵다.</a:t>
                      </a:r>
                    </a:p>
                  </a:txBody>
                  <a:tcPr marL="91440" marR="91440" marT="45720" marB="45720">
                    <a:solidFill>
                      <a:srgbClr val="073322"/>
                    </a:solidFill>
                  </a:tcPr>
                </a:tc>
              </a:tr>
              <a:tr h="619125">
                <a:tc>
                  <a:txBody>
                    <a:bodyPr/>
                    <a:lstStyle/>
                    <a:p>
                      <a:r>
                        <a:rPr sz="1725" b="0">
                          <a:solidFill>
                            <a:srgbClr val="F8FAF8"/>
                          </a:solidFill>
                          <a:latin typeface="Apple SD Gothic Neo"/>
                          <a:ea typeface="Apple SD Gothic Neo"/>
                          <a:cs typeface="Apple SD Gothic Neo"/>
                        </a:rPr>
                        <a:t>관측 제공 지연·공휴일 미반영</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실제 운영 예측과 입력 조건이 다를 수 있다.</a:t>
                      </a:r>
                    </a:p>
                  </a:txBody>
                  <a:tcPr marL="91440" marR="91440" marT="45720" marB="45720">
                    <a:solidFill>
                      <a:srgbClr val="123D2C"/>
                    </a:solidFill>
                  </a:tcPr>
                </a:tc>
              </a:tr>
              <a:tr h="619125">
                <a:tc>
                  <a:txBody>
                    <a:bodyPr/>
                    <a:lstStyle/>
                    <a:p>
                      <a:r>
                        <a:rPr sz="1725" b="0">
                          <a:solidFill>
                            <a:srgbClr val="F8FAF8"/>
                          </a:solidFill>
                          <a:latin typeface="Apple SD Gothic Neo"/>
                          <a:ea typeface="Apple SD Gothic Neo"/>
                          <a:cs typeface="Apple SD Gothic Neo"/>
                        </a:rPr>
                        <a:t>7개 지역·결측치 0 가정</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전국 대표성과 전처리 민감도 검증이 필요하다.</a:t>
                      </a:r>
                    </a:p>
                  </a:txBody>
                  <a:tcPr marL="91440" marR="91440" marT="45720" marB="45720">
                    <a:solidFill>
                      <a:srgbClr val="073322"/>
                    </a:solidFill>
                  </a:tcPr>
                </a:tc>
              </a:tr>
              <a:tr h="619125">
                <a:tc>
                  <a:txBody>
                    <a:bodyPr/>
                    <a:lstStyle/>
                    <a:p>
                      <a:r>
                        <a:rPr sz="1725" b="0">
                          <a:solidFill>
                            <a:srgbClr val="F8FAF8"/>
                          </a:solidFill>
                          <a:latin typeface="Apple SD Gothic Neo"/>
                          <a:ea typeface="Apple SD Gothic Neo"/>
                          <a:cs typeface="Apple SD Gothic Neo"/>
                        </a:rPr>
                        <a:t>같은 테스트 기간을 이전에 확인</a:t>
                      </a:r>
                    </a:p>
                  </a:txBody>
                  <a:tcPr marL="91440" marR="91440" marT="45720" marB="45720">
                    <a:solidFill>
                      <a:srgbClr val="123D2C"/>
                    </a:solidFill>
                  </a:tcPr>
                </a:tc>
                <a:tc>
                  <a:txBody>
                    <a:bodyPr/>
                    <a:lstStyle/>
                    <a:p>
                      <a:r>
                        <a:rPr sz="1725" b="0">
                          <a:solidFill>
                            <a:srgbClr val="F8FAF8"/>
                          </a:solidFill>
                          <a:latin typeface="Apple SD Gothic Neo"/>
                          <a:ea typeface="Apple SD Gothic Neo"/>
                          <a:cs typeface="Apple SD Gothic Neo"/>
                        </a:rPr>
                        <a:t>새 기간에서 독립 검증해야 한다.</a:t>
                      </a:r>
                    </a:p>
                  </a:txBody>
                  <a:tcPr marL="91440" marR="91440" marT="45720" marB="45720">
                    <a:solidFill>
                      <a:srgbClr val="123D2C"/>
                    </a:solidFill>
                  </a:tcPr>
                </a:tc>
              </a:tr>
              <a:tr h="619125">
                <a:tc>
                  <a:txBody>
                    <a:bodyPr/>
                    <a:lstStyle/>
                    <a:p>
                      <a:r>
                        <a:rPr sz="1725" b="0">
                          <a:solidFill>
                            <a:srgbClr val="F8FAF8"/>
                          </a:solidFill>
                          <a:latin typeface="Apple SD Gothic Neo"/>
                          <a:ea typeface="Apple SD Gothic Neo"/>
                          <a:cs typeface="Apple SD Gothic Neo"/>
                        </a:rPr>
                        <a:t>입력 정보·모델 용량 차이</a:t>
                      </a:r>
                    </a:p>
                  </a:txBody>
                  <a:tcPr marL="91440" marR="91440" marT="45720" marB="45720">
                    <a:solidFill>
                      <a:srgbClr val="073322"/>
                    </a:solidFill>
                  </a:tcPr>
                </a:tc>
                <a:tc>
                  <a:txBody>
                    <a:bodyPr/>
                    <a:lstStyle/>
                    <a:p>
                      <a:r>
                        <a:rPr sz="1725" b="0">
                          <a:solidFill>
                            <a:srgbClr val="F8FAF8"/>
                          </a:solidFill>
                          <a:latin typeface="Apple SD Gothic Neo"/>
                          <a:ea typeface="Apple SD Gothic Neo"/>
                          <a:cs typeface="Apple SD Gothic Neo"/>
                        </a:rPr>
                        <a:t>알고리즘 또는 날씨의 효과만 분리한 실험은 아니다.</a:t>
                      </a:r>
                    </a:p>
                  </a:txBody>
                  <a:tcPr marL="91440" marR="91440" marT="45720" marB="45720">
                    <a:solidFill>
                      <a:srgbClr val="073322"/>
                    </a:solidFill>
                  </a:tcPr>
                </a:tc>
              </a:tr>
            </a:tbl>
          </a:graphicData>
        </a:graphic>
      </p:graphicFrame>
    </p:spTree>
    <p:extLst>
      <p:ext uri="{BB962C8B-B14F-4D97-AF65-F5344CB8AC3E}">
        <p14:creationId xmlns:p14="http://schemas.microsoft.com/office/powerpoint/2010/main" val="429120901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18</a:t>
            </a: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명목 95% 구간의 포함률과 폭</a:t>
            </a:r>
          </a:p>
        </p:txBody>
      </p:sp>
      <p:graphicFrame>
        <p:nvGraphicFramePr>
          <p:cNvPr id="539" name=""/>
          <p:cNvGraphicFramePr/>
          <p:nvPr/>
        </p:nvGraphicFramePr>
        <p:xfrm>
          <a:off xmlns:a="http://schemas.openxmlformats.org/drawingml/2006/main" x="400050" y="1619250"/>
          <a:ext xmlns:a="http://schemas.openxmlformats.org/drawingml/2006/main" cx="11391900" cy="2333625"/>
        </p:xfrm>
        <a:graphic xmlns:a="http://schemas.openxmlformats.org/drawingml/2006/main">
          <a:graphicData uri="http://schemas.openxmlformats.org/drawingml/2006/table">
            <a:tbl>
              <a:tblPr/>
              <a:tblGrid>
                <a:gridCol w="4476750"/>
                <a:gridCol w="3457575"/>
                <a:gridCol w="3457575"/>
              </a:tblGrid>
              <a:tr h="583406">
                <a:tc>
                  <a:txBody>
                    <a:bodyPr/>
                    <a:lstStyle/>
                    <a:p>
                      <a:r>
                        <a:rPr sz="1800" b="1">
                          <a:solidFill>
                            <a:srgbClr val="B9ED4C"/>
                          </a:solidFill>
                          <a:latin typeface="Apple SD Gothic Neo"/>
                          <a:ea typeface="Apple SD Gothic Neo"/>
                          <a:cs typeface="Apple SD Gothic Neo"/>
                        </a:rPr>
                        <a:t>모델</a:t>
                      </a:r>
                    </a:p>
                  </a:txBody>
                  <a:tcPr marL="91440" marR="91440" marT="45720" marB="45720">
                    <a:solidFill>
                      <a:srgbClr val="264B3A"/>
                    </a:solidFill>
                  </a:tcPr>
                </a:tc>
                <a:tc>
                  <a:txBody>
                    <a:bodyPr/>
                    <a:lstStyle/>
                    <a:p>
                      <a:r>
                        <a:rPr sz="1800" b="1">
                          <a:solidFill>
                            <a:srgbClr val="B9ED4C"/>
                          </a:solidFill>
                          <a:latin typeface="Apple SD Gothic Neo"/>
                          <a:ea typeface="Apple SD Gothic Neo"/>
                          <a:cs typeface="Apple SD Gothic Neo"/>
                        </a:rPr>
                        <a:t>테스트 포함률 (%)</a:t>
                      </a:r>
                    </a:p>
                  </a:txBody>
                  <a:tcPr marL="91440" marR="91440" marT="45720" marB="45720">
                    <a:solidFill>
                      <a:srgbClr val="264B3A"/>
                    </a:solidFill>
                  </a:tcPr>
                </a:tc>
                <a:tc>
                  <a:txBody>
                    <a:bodyPr/>
                    <a:lstStyle/>
                    <a:p>
                      <a:r>
                        <a:rPr sz="1800" b="1">
                          <a:solidFill>
                            <a:srgbClr val="B9ED4C"/>
                          </a:solidFill>
                          <a:latin typeface="Apple SD Gothic Neo"/>
                          <a:ea typeface="Apple SD Gothic Neo"/>
                          <a:cs typeface="Apple SD Gothic Neo"/>
                        </a:rPr>
                        <a:t>평균 폭 (MWh)</a:t>
                      </a:r>
                    </a:p>
                  </a:txBody>
                  <a:tcPr marL="91440" marR="91440" marT="45720" marB="45720">
                    <a:solidFill>
                      <a:srgbClr val="264B3A"/>
                    </a:solidFill>
                  </a:tcPr>
                </a:tc>
              </a:tr>
              <a:tr h="583406">
                <a:tc>
                  <a:txBody>
                    <a:bodyPr/>
                    <a:lstStyle/>
                    <a:p>
                      <a:r>
                        <a:rPr sz="1800" b="0">
                          <a:solidFill>
                            <a:srgbClr val="F8FAF8"/>
                          </a:solidFill>
                          <a:latin typeface="Apple SD Gothic Neo"/>
                          <a:ea typeface="Apple SD Gothic Neo"/>
                          <a:cs typeface="Apple SD Gothic Neo"/>
                        </a:rPr>
                        <a:t>SARIMA</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90.11</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3,062.8</a:t>
                      </a:r>
                    </a:p>
                  </a:txBody>
                  <a:tcPr marL="91440" marR="91440" marT="45720" marB="45720">
                    <a:solidFill>
                      <a:srgbClr val="073322"/>
                    </a:solidFill>
                  </a:tcPr>
                </a:tc>
              </a:tr>
              <a:tr h="583406">
                <a:tc>
                  <a:txBody>
                    <a:bodyPr/>
                    <a:lstStyle/>
                    <a:p>
                      <a:r>
                        <a:rPr sz="1800" b="0">
                          <a:solidFill>
                            <a:srgbClr val="F8FAF8"/>
                          </a:solidFill>
                          <a:latin typeface="Apple SD Gothic Neo"/>
                          <a:ea typeface="Apple SD Gothic Neo"/>
                          <a:cs typeface="Apple SD Gothic Neo"/>
                        </a:rPr>
                        <a:t>LSTM + 날씨</a:t>
                      </a:r>
                    </a:p>
                  </a:txBody>
                  <a:tcPr marL="91440" marR="91440" marT="45720" marB="45720">
                    <a:solidFill>
                      <a:srgbClr val="123D2C"/>
                    </a:solidFill>
                  </a:tcPr>
                </a:tc>
                <a:tc>
                  <a:txBody>
                    <a:bodyPr/>
                    <a:lstStyle/>
                    <a:p>
                      <a:r>
                        <a:rPr sz="1800" b="0">
                          <a:solidFill>
                            <a:srgbClr val="F8FAF8"/>
                          </a:solidFill>
                          <a:latin typeface="Apple SD Gothic Neo"/>
                          <a:ea typeface="Apple SD Gothic Neo"/>
                          <a:cs typeface="Apple SD Gothic Neo"/>
                        </a:rPr>
                        <a:t>92.85</a:t>
                      </a:r>
                    </a:p>
                  </a:txBody>
                  <a:tcPr marL="91440" marR="91440" marT="45720" marB="45720">
                    <a:solidFill>
                      <a:srgbClr val="123D2C"/>
                    </a:solidFill>
                  </a:tcPr>
                </a:tc>
                <a:tc>
                  <a:txBody>
                    <a:bodyPr/>
                    <a:lstStyle/>
                    <a:p>
                      <a:r>
                        <a:rPr sz="1800" b="0">
                          <a:solidFill>
                            <a:srgbClr val="F8FAF8"/>
                          </a:solidFill>
                          <a:latin typeface="Apple SD Gothic Neo"/>
                          <a:ea typeface="Apple SD Gothic Neo"/>
                          <a:cs typeface="Apple SD Gothic Neo"/>
                        </a:rPr>
                        <a:t>3,479.5</a:t>
                      </a:r>
                    </a:p>
                  </a:txBody>
                  <a:tcPr marL="91440" marR="91440" marT="45720" marB="45720">
                    <a:solidFill>
                      <a:srgbClr val="123D2C"/>
                    </a:solidFill>
                  </a:tcPr>
                </a:tc>
              </a:tr>
              <a:tr h="583406">
                <a:tc>
                  <a:txBody>
                    <a:bodyPr/>
                    <a:lstStyle/>
                    <a:p>
                      <a:r>
                        <a:rPr sz="1800" b="0">
                          <a:solidFill>
                            <a:srgbClr val="F8FAF8"/>
                          </a:solidFill>
                          <a:latin typeface="Apple SD Gothic Neo"/>
                          <a:ea typeface="Apple SD Gothic Neo"/>
                          <a:cs typeface="Apple SD Gothic Neo"/>
                        </a:rPr>
                        <a:t>Transformer + 날씨</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96.88</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4,597.8</a:t>
                      </a:r>
                    </a:p>
                  </a:txBody>
                  <a:tcPr marL="91440" marR="91440" marT="45720" marB="45720">
                    <a:solidFill>
                      <a:srgbClr val="073322"/>
                    </a:solidFill>
                  </a:tcPr>
                </a:tc>
              </a:tr>
            </a:tbl>
          </a:graphicData>
        </a:graphic>
      </p:graphicFrame>
      <p:sp>
        <p:nvSpPr>
          <p:cNvPr id="535" name="">
            <a:extLst xmlns:a="http://schemas.openxmlformats.org/drawingml/2006/main">
              <a:ext uri="{FF2B5EF4-FFF2-40B4-BE49-F238E27FC236}">
                <a16:creationId xmlns:a16="http://schemas.microsoft.com/office/drawing/2014/main" id="{83B8F90F-4104-4FBF-87BC-04CF009FB188}"/>
              </a:ext>
            </a:extLst>
          </p:cNvPr>
          <p:cNvSpPr>
            <a:spLocks xmlns:a="http://schemas.openxmlformats.org/drawingml/2006/main" noGrp="1"/>
          </p:cNvSpPr>
          <p:nvPr/>
        </p:nvSpPr>
        <p:spPr>
          <a:xfrm xmlns:a="http://schemas.openxmlformats.org/drawingml/2006/main">
            <a:off x="400050" y="4476750"/>
            <a:ext cx="11391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a:solidFill>
                  <a:srgbClr val="D0DAD5"/>
                </a:solidFill>
                <a:latin typeface="Apple SD Gothic Neo"/>
                <a:ea typeface="Apple SD Gothic Neo"/>
                <a:cs typeface="Apple SD Gothic Neo"/>
              </a:defRPr>
            </a:pPr>
            <a:r>
              <a:rPr sz="1800">
                <a:solidFill>
                  <a:srgbClr val="D0DAD5"/>
                </a:solidFill>
                <a:latin typeface="Apple SD Gothic Neo"/>
                <a:ea typeface="Apple SD Gothic Neo"/>
                <a:cs typeface="Apple SD Gothic Neo"/>
              </a:rPr>
              <a:t>보정 438시간의 절대 오차 분위수 q로 예측값 ±q를 구성한다.</a:t>
            </a:r>
          </a:p>
          <a:p xmlns:a="http://schemas.openxmlformats.org/drawingml/2006/main">
            <a:pPr>
              <a:defRPr sz="1800">
                <a:solidFill>
                  <a:srgbClr val="D0DAD5"/>
                </a:solidFill>
                <a:latin typeface="Apple SD Gothic Neo"/>
                <a:ea typeface="Apple SD Gothic Neo"/>
                <a:cs typeface="Apple SD Gothic Neo"/>
              </a:defRPr>
            </a:pPr>
            <a:r>
              <a:rPr sz="1800">
                <a:solidFill>
                  <a:srgbClr val="D0DAD5"/>
                </a:solidFill>
                <a:latin typeface="Apple SD Gothic Neo"/>
                <a:ea typeface="Apple SD Gothic Neo"/>
                <a:cs typeface="Apple SD Gothic Neo"/>
              </a:rPr>
              <a:t>모델 선택 자료와 보정 자료를 분리했다.</a:t>
            </a:r>
          </a:p>
          <a:p xmlns:a="http://schemas.openxmlformats.org/drawingml/2006/main">
            <a:pPr>
              <a:defRPr sz="1800">
                <a:solidFill>
                  <a:srgbClr val="D0DAD5"/>
                </a:solidFill>
                <a:latin typeface="Apple SD Gothic Neo"/>
                <a:ea typeface="Apple SD Gothic Neo"/>
                <a:cs typeface="Apple SD Gothic Neo"/>
              </a:defRPr>
            </a:pPr>
            <a:r>
              <a:rPr sz="1800">
                <a:solidFill>
                  <a:srgbClr val="D0DAD5"/>
                </a:solidFill>
                <a:latin typeface="Apple SD Gothic Neo"/>
                <a:ea typeface="Apple SD Gothic Neo"/>
                <a:cs typeface="Apple SD Gothic Neo"/>
              </a:rPr>
              <a:t>시계열 의존성과 계절 이동 때문에 명목 95%의 보장은 없다.</a:t>
            </a:r>
          </a:p>
          <a:p xmlns:a="http://schemas.openxmlformats.org/drawingml/2006/main">
            <a:pPr>
              <a:defRPr sz="1800">
                <a:solidFill>
                  <a:srgbClr val="D0DAD5"/>
                </a:solidFill>
                <a:latin typeface="Apple SD Gothic Neo"/>
                <a:ea typeface="Apple SD Gothic Neo"/>
                <a:cs typeface="Apple SD Gothic Neo"/>
              </a:defRPr>
            </a:pPr>
            <a:r>
              <a:rPr sz="1800">
                <a:solidFill>
                  <a:srgbClr val="D0DAD5"/>
                </a:solidFill>
                <a:latin typeface="Apple SD Gothic Neo"/>
                <a:ea typeface="Apple SD Gothic Neo"/>
                <a:cs typeface="Apple SD Gothic Neo"/>
              </a:rPr>
              <a:t>포함률과 구간 폭을 함께 비교해야 한다.</a:t>
            </a:r>
          </a:p>
        </p:txBody>
      </p:sp>
    </p:spTree>
    <p:extLst>
      <p:ext uri="{BB962C8B-B14F-4D97-AF65-F5344CB8AC3E}">
        <p14:creationId xmlns:p14="http://schemas.microsoft.com/office/powerpoint/2010/main" val="324567077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14350"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buNone/>
              <a:defRPr sz="900">
                <a:solidFill>
                  <a:srgbClr val="FFFFFF"/>
                </a:solidFill>
                <a:latin typeface="Apple SD Gothic Neo"/>
                <a:ea typeface="Apple SD Gothic Neo"/>
                <a:cs typeface="Apple SD Gothic Neo"/>
              </a:defRPr>
            </a:pPr>
            <a:r>
              <a:rPr sz="900">
                <a:solidFill>
                  <a:srgbClr val="FFFFFF"/>
                </a:solidFill>
                <a:latin typeface="Apple SD Gothic Neo"/>
                <a:ea typeface="Apple SD Gothic Neo"/>
                <a:cs typeface="Apple SD Gothic Neo"/>
              </a:rPr>
              <a:t>19</a:t>
            </a: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pPr>
            <a:r>
              <a:rPr>
                <a:latin typeface="Apple SD Gothic Neo"/>
                <a:ea typeface="Apple SD Gothic Neo"/>
                <a:cs typeface="Apple SD Gothic Neo"/>
              </a:rPr>
              <a:t>결론과 후속 실험</a:t>
            </a:r>
          </a:p>
        </p:txBody>
      </p:sp>
      <p:graphicFrame>
        <p:nvGraphicFramePr>
          <p:cNvPr id="539" name=""/>
          <p:cNvGraphicFramePr/>
          <p:nvPr/>
        </p:nvGraphicFramePr>
        <p:xfrm>
          <a:off xmlns:a="http://schemas.openxmlformats.org/drawingml/2006/main" x="400050" y="1619250"/>
          <a:ext xmlns:a="http://schemas.openxmlformats.org/drawingml/2006/main" cx="11391900" cy="3333750"/>
        </p:xfrm>
        <a:graphic xmlns:a="http://schemas.openxmlformats.org/drawingml/2006/main">
          <a:graphicData uri="http://schemas.openxmlformats.org/drawingml/2006/table">
            <a:tbl>
              <a:tblPr/>
              <a:tblGrid>
                <a:gridCol w="5695950"/>
                <a:gridCol w="5695950"/>
              </a:tblGrid>
              <a:tr h="666750">
                <a:tc>
                  <a:txBody>
                    <a:bodyPr/>
                    <a:lstStyle/>
                    <a:p>
                      <a:r>
                        <a:rPr sz="1800" b="1">
                          <a:solidFill>
                            <a:srgbClr val="B9ED4C"/>
                          </a:solidFill>
                          <a:latin typeface="Apple SD Gothic Neo"/>
                          <a:ea typeface="Apple SD Gothic Neo"/>
                          <a:cs typeface="Apple SD Gothic Neo"/>
                        </a:rPr>
                        <a:t>실험 결론</a:t>
                      </a:r>
                    </a:p>
                  </a:txBody>
                  <a:tcPr marL="91440" marR="91440" marT="45720" marB="45720">
                    <a:solidFill>
                      <a:srgbClr val="264B3A"/>
                    </a:solidFill>
                  </a:tcPr>
                </a:tc>
                <a:tc>
                  <a:txBody>
                    <a:bodyPr/>
                    <a:lstStyle/>
                    <a:p>
                      <a:r>
                        <a:rPr sz="1800" b="1">
                          <a:solidFill>
                            <a:srgbClr val="B9ED4C"/>
                          </a:solidFill>
                          <a:latin typeface="Apple SD Gothic Neo"/>
                          <a:ea typeface="Apple SD Gothic Neo"/>
                          <a:cs typeface="Apple SD Gothic Neo"/>
                        </a:rPr>
                        <a:t>다음 단계</a:t>
                      </a:r>
                    </a:p>
                  </a:txBody>
                  <a:tcPr marL="91440" marR="91440" marT="45720" marB="45720">
                    <a:solidFill>
                      <a:srgbClr val="264B3A"/>
                    </a:solidFill>
                  </a:tcPr>
                </a:tc>
              </a:tr>
              <a:tr h="666750">
                <a:tc>
                  <a:txBody>
                    <a:bodyPr/>
                    <a:lstStyle/>
                    <a:p>
                      <a:r>
                        <a:rPr sz="1800" b="0">
                          <a:solidFill>
                            <a:srgbClr val="F8FAF8"/>
                          </a:solidFill>
                          <a:latin typeface="Apple SD Gothic Neo"/>
                          <a:ea typeface="Apple SD Gothic Neo"/>
                          <a:cs typeface="Apple SD Gothic Neo"/>
                        </a:rPr>
                        <a:t>SARIMA가 전체 RMSE에서 우세</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추가 연도에서 rolling 평가</a:t>
                      </a:r>
                    </a:p>
                  </a:txBody>
                  <a:tcPr marL="91440" marR="91440" marT="45720" marB="45720">
                    <a:solidFill>
                      <a:srgbClr val="073322"/>
                    </a:solidFill>
                  </a:tcPr>
                </a:tc>
              </a:tr>
              <a:tr h="666750">
                <a:tc>
                  <a:txBody>
                    <a:bodyPr/>
                    <a:lstStyle/>
                    <a:p>
                      <a:r>
                        <a:rPr sz="1800" b="0">
                          <a:solidFill>
                            <a:srgbClr val="F8FAF8"/>
                          </a:solidFill>
                          <a:latin typeface="Apple SD Gothic Neo"/>
                          <a:ea typeface="Apple SD Gothic Neo"/>
                          <a:cs typeface="Apple SD Gothic Neo"/>
                        </a:rPr>
                        <a:t>딥러닝은 지속 예측 대비 오차 감소</a:t>
                      </a:r>
                    </a:p>
                  </a:txBody>
                  <a:tcPr marL="91440" marR="91440" marT="45720" marB="45720">
                    <a:solidFill>
                      <a:srgbClr val="123D2C"/>
                    </a:solidFill>
                  </a:tcPr>
                </a:tc>
                <a:tc>
                  <a:txBody>
                    <a:bodyPr/>
                    <a:lstStyle/>
                    <a:p>
                      <a:r>
                        <a:rPr sz="1800" b="0">
                          <a:solidFill>
                            <a:srgbClr val="F8FAF8"/>
                          </a:solidFill>
                          <a:latin typeface="Apple SD Gothic Neo"/>
                          <a:ea typeface="Apple SD Gothic Neo"/>
                          <a:cs typeface="Apple SD Gothic Neo"/>
                        </a:rPr>
                        <a:t>공휴일·지역 수요 가중 기온 입력</a:t>
                      </a:r>
                    </a:p>
                  </a:txBody>
                  <a:tcPr marL="91440" marR="91440" marT="45720" marB="45720">
                    <a:solidFill>
                      <a:srgbClr val="123D2C"/>
                    </a:solidFill>
                  </a:tcPr>
                </a:tc>
              </a:tr>
              <a:tr h="666750">
                <a:tc>
                  <a:txBody>
                    <a:bodyPr/>
                    <a:lstStyle/>
                    <a:p>
                      <a:r>
                        <a:rPr sz="1800" b="0">
                          <a:solidFill>
                            <a:srgbClr val="F8FAF8"/>
                          </a:solidFill>
                          <a:latin typeface="Apple SD Gothic Neo"/>
                          <a:ea typeface="Apple SD Gothic Neo"/>
                          <a:cs typeface="Apple SD Gothic Neo"/>
                        </a:rPr>
                        <a:t>주말 구간에서는 딥러닝의 장점</a:t>
                      </a:r>
                    </a:p>
                  </a:txBody>
                  <a:tcPr marL="91440" marR="91440" marT="45720" marB="45720">
                    <a:solidFill>
                      <a:srgbClr val="073322"/>
                    </a:solidFill>
                  </a:tcPr>
                </a:tc>
                <a:tc>
                  <a:txBody>
                    <a:bodyPr/>
                    <a:lstStyle/>
                    <a:p>
                      <a:r>
                        <a:rPr sz="1800" b="0">
                          <a:solidFill>
                            <a:srgbClr val="F8FAF8"/>
                          </a:solidFill>
                          <a:latin typeface="Apple SD Gothic Neo"/>
                          <a:ea typeface="Apple SD Gothic Neo"/>
                          <a:cs typeface="Apple SD Gothic Neo"/>
                        </a:rPr>
                        <a:t>QC 기반 결측치 처리 민감도 비교</a:t>
                      </a:r>
                    </a:p>
                  </a:txBody>
                  <a:tcPr marL="91440" marR="91440" marT="45720" marB="45720">
                    <a:solidFill>
                      <a:srgbClr val="073322"/>
                    </a:solidFill>
                  </a:tcPr>
                </a:tc>
              </a:tr>
              <a:tr h="666750">
                <a:tc>
                  <a:txBody>
                    <a:bodyPr/>
                    <a:lstStyle/>
                    <a:p>
                      <a:r>
                        <a:rPr sz="1800" b="0">
                          <a:solidFill>
                            <a:srgbClr val="F8FAF8"/>
                          </a:solidFill>
                          <a:latin typeface="Apple SD Gothic Neo"/>
                          <a:ea typeface="Apple SD Gothic Neo"/>
                          <a:cs typeface="Apple SD Gothic Neo"/>
                        </a:rPr>
                        <a:t>날씨 입력은 이번 테스트에서 도움</a:t>
                      </a:r>
                    </a:p>
                  </a:txBody>
                  <a:tcPr marL="91440" marR="91440" marT="45720" marB="45720">
                    <a:solidFill>
                      <a:srgbClr val="123D2C"/>
                    </a:solidFill>
                  </a:tcPr>
                </a:tc>
                <a:tc>
                  <a:txBody>
                    <a:bodyPr/>
                    <a:lstStyle/>
                    <a:p>
                      <a:r>
                        <a:rPr sz="1800" b="0">
                          <a:solidFill>
                            <a:srgbClr val="F8FAF8"/>
                          </a:solidFill>
                          <a:latin typeface="Apple SD Gothic Neo"/>
                          <a:ea typeface="Apple SD Gothic Neo"/>
                          <a:cs typeface="Apple SD Gothic Neo"/>
                        </a:rPr>
                        <a:t>24시간 일괄 예측과 분위수 학습</a:t>
                      </a:r>
                    </a:p>
                  </a:txBody>
                  <a:tcPr marL="91440" marR="91440" marT="45720" marB="45720">
                    <a:solidFill>
                      <a:srgbClr val="123D2C"/>
                    </a:solidFill>
                  </a:tcPr>
                </a:tc>
              </a:tr>
            </a:tbl>
          </a:graphicData>
        </a:graphic>
      </p:graphicFrame>
      <p:sp>
        <p:nvSpPr>
          <p:cNvPr id="535" name="">
            <a:extLst xmlns:a="http://schemas.openxmlformats.org/drawingml/2006/main">
              <a:ext uri="{FF2B5EF4-FFF2-40B4-BE49-F238E27FC236}">
                <a16:creationId xmlns:a16="http://schemas.microsoft.com/office/drawing/2014/main" id="{A88E8247-6F84-4EFD-87AC-6954FC493417}"/>
              </a:ext>
            </a:extLst>
          </p:cNvPr>
          <p:cNvSpPr>
            <a:spLocks xmlns:a="http://schemas.openxmlformats.org/drawingml/2006/main" noGrp="1"/>
          </p:cNvSpPr>
          <p:nvPr/>
        </p:nvSpPr>
        <p:spPr>
          <a:xfrm xmlns:a="http://schemas.openxmlformats.org/drawingml/2006/main">
            <a:off x="400050" y="5286375"/>
            <a:ext cx="11391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a:solidFill>
                  <a:srgbClr val="D0DAD5"/>
                </a:solidFill>
                <a:latin typeface="Apple SD Gothic Neo"/>
                <a:ea typeface="Apple SD Gothic Neo"/>
                <a:cs typeface="Apple SD Gothic Neo"/>
              </a:defRPr>
            </a:pPr>
            <a:r>
              <a:rPr sz="1575">
                <a:solidFill>
                  <a:srgbClr val="D0DAD5"/>
                </a:solidFill>
                <a:latin typeface="Apple SD Gothic Neo"/>
                <a:ea typeface="Apple SD Gothic Neo"/>
                <a:cs typeface="Apple SD Gothic Neo"/>
              </a:rPr>
              <a:t>출처: 전력거래소 전국 전력수요량, 기상청 ASOS, LSTM(1997), Transformer(2017), statsmodels.</a:t>
            </a:r>
          </a:p>
          <a:p xmlns:a="http://schemas.openxmlformats.org/drawingml/2006/main">
            <a:pPr>
              <a:defRPr sz="1575">
                <a:solidFill>
                  <a:srgbClr val="D0DAD5"/>
                </a:solidFill>
                <a:latin typeface="Apple SD Gothic Neo"/>
                <a:ea typeface="Apple SD Gothic Neo"/>
                <a:cs typeface="Apple SD Gothic Neo"/>
              </a:defRPr>
            </a:pPr>
            <a:r>
              <a:rPr sz="1575">
                <a:solidFill>
                  <a:srgbClr val="D0DAD5"/>
                </a:solidFill>
                <a:latin typeface="Apple SD Gothic Neo"/>
                <a:ea typeface="Apple SD Gothic Neo"/>
                <a:cs typeface="Apple SD Gothic Neo"/>
              </a:rPr>
              <a:t>원본 링크와 재현 설정은 보고서와 발표자 노트에 수록했다.</a:t>
            </a:r>
          </a:p>
        </p:txBody>
      </p:sp>
    </p:spTree>
    <p:extLst>
      <p:ext uri="{BB962C8B-B14F-4D97-AF65-F5344CB8AC3E}">
        <p14:creationId xmlns:p14="http://schemas.microsoft.com/office/powerpoint/2010/main" val="324567077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1F94652D-58EE-6496-27FC-88868633C24A}"/>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latin typeface="Apple SD Gothic Neo"/>
                <a:ea typeface="Apple SD Gothic Neo"/>
                <a:cs typeface="Apple SD Gothic Neo"/>
              </a:rPr>
              <a:t>데이터 특성에 맞는</a:t>
            </a:r>
          </a:p>
          <a:p xmlns:a="http://schemas.openxmlformats.org/drawingml/2006/main">
            <a:pPr algn="ctr">
              <a:buNone/>
            </a:pPr>
            <a:r>
              <a:rPr sz="7200">
                <a:solidFill>
                  <a:srgbClr val="BCEF59"/>
                </a:solidFill>
                <a:latin typeface="Apple SD Gothic Neo"/>
                <a:ea typeface="Apple SD Gothic Neo"/>
                <a:cs typeface="Apple SD Gothic Neo"/>
              </a:rPr>
              <a:t>모델 비교가 중요하다</a:t>
            </a:r>
          </a:p>
        </p:txBody>
      </p:sp>
      <p:sp>
        <p:nvSpPr>
          <p:cNvPr id="6" name="Subtitle 4">
            <a:extLst xmlns:a="http://schemas.openxmlformats.org/drawingml/2006/main">
              <a:ext uri="{FF2B5EF4-FFF2-40B4-BE49-F238E27FC236}">
                <a16:creationId xmlns:a16="http://schemas.microsoft.com/office/drawing/2014/main" id="{7A15B0DD-3ED8-37CA-9675-F348EABF4C6C}"/>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200">
                <a:latin typeface="Apple SD Gothic Neo"/>
                <a:ea typeface="Apple SD Gothic Neo"/>
                <a:cs typeface="Apple SD Gothic Neo"/>
              </a:rPr>
              <a:t>질의응답</a:t>
            </a:r>
          </a:p>
        </p:txBody>
      </p:sp>
      <p:sp>
        <p:nvSpPr>
          <p:cNvPr id="3" name="Rounded Rectangle 2">
            <a:extLst xmlns:a="http://schemas.openxmlformats.org/drawingml/2006/main">
              <a:ext uri="{FF2B5EF4-FFF2-40B4-BE49-F238E27FC236}">
                <a16:creationId xmlns:a16="http://schemas.microsoft.com/office/drawing/2014/main" id="{64FF5F30-1F7D-7291-7074-4D9972C874C3}"/>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b="1">
                <a:solidFill>
                  <a:schemeClr val="tx1"/>
                </a:solidFill>
                <a:latin typeface="Apple SD Gothic Neo"/>
                <a:ea typeface="Apple SD Gothic Neo"/>
                <a:cs typeface="Apple SD Gothic Neo"/>
              </a:rPr>
              <a:t>DL Final Project · 2026.09.22</a:t>
            </a:r>
          </a:p>
        </p:txBody>
      </p:sp>
    </p:spTree>
    <p:extLst>
      <p:ext uri="{BB962C8B-B14F-4D97-AF65-F5344CB8AC3E}">
        <p14:creationId xmlns:p14="http://schemas.microsoft.com/office/powerpoint/2010/main" val="2385373601"/>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2026-09-05T06:19:44.6430000Z</dcterms:created>
  <dcterms:modified xsi:type="dcterms:W3CDTF">2026-09-05T06:19:44.6430000Z</dcterms:modified>
</coreProperties>
</file>